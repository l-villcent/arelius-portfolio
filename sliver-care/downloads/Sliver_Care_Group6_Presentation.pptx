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a09a74ed4b4a63" /><Relationship Type="http://schemas.openxmlformats.org/officeDocument/2006/relationships/extended-properties" Target="/docProps/app.xml" Id="R6f58fc8d10324e79" /><Relationship Type="http://schemas.openxmlformats.org/officeDocument/2006/relationships/officeDocument" Target="/ppt/presentation.xml" Id="Rb376ac87dabb46bd" /></Relationships>
</file>

<file path=ppt/presentation.xml><?xml version="1.0" encoding="utf-8"?>
<p:presentation xmlns:p="http://schemas.openxmlformats.org/presentationml/2006/main">
  <p:sldMasterIdLst>
    <p:sldMasterId xmlns:r="http://schemas.openxmlformats.org/officeDocument/2006/relationships" id="2147483648" r:id="Rccf1ef540d8741f0"/>
  </p:sldMasterIdLst>
  <p:notesMasterIdLst>
    <p:notesMasterId xmlns:r="http://schemas.openxmlformats.org/officeDocument/2006/relationships" r:id="R2323b1fda22e4532"/>
  </p:notesMasterIdLst>
  <p:sldIdLst>
    <p:sldId xmlns:r="http://schemas.openxmlformats.org/officeDocument/2006/relationships" id="256" r:id="R541383046ebb4957"/>
    <p:sldId xmlns:r="http://schemas.openxmlformats.org/officeDocument/2006/relationships" id="257" r:id="R46b66b3a041046e5"/>
    <p:sldId xmlns:r="http://schemas.openxmlformats.org/officeDocument/2006/relationships" id="258" r:id="R7da0a8f4b14f49b5"/>
    <p:sldId xmlns:r="http://schemas.openxmlformats.org/officeDocument/2006/relationships" id="259" r:id="R846c556f89204c58"/>
    <p:sldId xmlns:r="http://schemas.openxmlformats.org/officeDocument/2006/relationships" id="260" r:id="Rd388675114a64761"/>
    <p:sldId xmlns:r="http://schemas.openxmlformats.org/officeDocument/2006/relationships" id="261" r:id="R358277fc7a264ba4"/>
    <p:sldId xmlns:r="http://schemas.openxmlformats.org/officeDocument/2006/relationships" id="262" r:id="Rc243eb77eaf24da8"/>
    <p:sldId xmlns:r="http://schemas.openxmlformats.org/officeDocument/2006/relationships" id="263" r:id="R29350d9eed7b4f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0a02ddff06420d" /><Relationship Type="http://schemas.openxmlformats.org/officeDocument/2006/relationships/slideMaster" Target="/ppt/slideMasters/slideMaster1.xml" Id="Rccf1ef540d8741f0" /><Relationship Type="http://schemas.openxmlformats.org/officeDocument/2006/relationships/notesMaster" Target="/ppt/notesMasters/notesMaster1.xml" Id="R2323b1fda22e4532" /><Relationship Type="http://schemas.openxmlformats.org/officeDocument/2006/relationships/presProps" Target="/ppt/presProps.xml" Id="Rba8e900e1e96425a" /><Relationship Type="http://schemas.openxmlformats.org/officeDocument/2006/relationships/tableStyles" Target="/ppt/tableStyles.xml" Id="R0979897de8c74a39" /><Relationship Type="http://schemas.openxmlformats.org/officeDocument/2006/relationships/slide" Target="/ppt/slides/slide1.xml" Id="R541383046ebb4957" /><Relationship Type="http://schemas.openxmlformats.org/officeDocument/2006/relationships/slide" Target="/ppt/slides/slide2.xml" Id="R46b66b3a041046e5" /><Relationship Type="http://schemas.openxmlformats.org/officeDocument/2006/relationships/slide" Target="/ppt/slides/slide3.xml" Id="R7da0a8f4b14f49b5" /><Relationship Type="http://schemas.openxmlformats.org/officeDocument/2006/relationships/slide" Target="/ppt/slides/slide4.xml" Id="R846c556f89204c58" /><Relationship Type="http://schemas.openxmlformats.org/officeDocument/2006/relationships/slide" Target="/ppt/slides/slide5.xml" Id="Rd388675114a64761" /><Relationship Type="http://schemas.openxmlformats.org/officeDocument/2006/relationships/slide" Target="/ppt/slides/slide6.xml" Id="R358277fc7a264ba4" /><Relationship Type="http://schemas.openxmlformats.org/officeDocument/2006/relationships/slide" Target="/ppt/slides/slide7.xml" Id="Rc243eb77eaf24da8" /><Relationship Type="http://schemas.openxmlformats.org/officeDocument/2006/relationships/slide" Target="/ppt/slides/slide8.xml" Id="R29350d9eed7b4f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f8194207ee4f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48ae4c97c3457d" /><Relationship Type="http://schemas.openxmlformats.org/officeDocument/2006/relationships/notesMaster" Target="/ppt/notesMasters/notesMaster1.xml" Id="R420ae4c43a2c4d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e8d69cd63743f6" /><Relationship Type="http://schemas.openxmlformats.org/officeDocument/2006/relationships/notesMaster" Target="/ppt/notesMasters/notesMaster1.xml" Id="R8dd02f09246c4d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f135bd34bd4205" /><Relationship Type="http://schemas.openxmlformats.org/officeDocument/2006/relationships/notesMaster" Target="/ppt/notesMasters/notesMaster1.xml" Id="R28effd5f439946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43de4220f64f43" /><Relationship Type="http://schemas.openxmlformats.org/officeDocument/2006/relationships/notesMaster" Target="/ppt/notesMasters/notesMaster1.xml" Id="R5d3076fb47d242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e2a0ff480c4241" /><Relationship Type="http://schemas.openxmlformats.org/officeDocument/2006/relationships/notesMaster" Target="/ppt/notesMasters/notesMaster1.xml" Id="R5d23e81a33a545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3aac05e5894132" /><Relationship Type="http://schemas.openxmlformats.org/officeDocument/2006/relationships/notesMaster" Target="/ppt/notesMasters/notesMaster1.xml" Id="Rda1b425b51a549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7f646f44c04205" /><Relationship Type="http://schemas.openxmlformats.org/officeDocument/2006/relationships/notesMaster" Target="/ppt/notesMasters/notesMaster1.xml" Id="R384bd988a28447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ccd43a53814a51" /><Relationship Type="http://schemas.openxmlformats.org/officeDocument/2006/relationships/notesMaster" Target="/ppt/notesMasters/notesMaster1.xml" Id="Rb73b21ca46b74d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 0:00–0:50</a:t>
            </a:r>
          </a:p>
          <a:p xmlns:a="http://schemas.openxmlformats.org/drawingml/2006/main">
            <a:r>
              <a:t/>
            </a:r>
          </a:p>
          <a:p xmlns:a="http://schemas.openxmlformats.org/drawingml/2006/main">
            <a:r>
              <a:t>Good morning. We are Group Six. Imagine two family members both thinking the other person has checked on an older parent. A reminder alone does not tell them who will follow up.</a:t>
            </a:r>
          </a:p>
          <a:p xmlns:a="http://schemas.openxmlformats.org/drawingml/2006/main">
            <a:r>
              <a:t/>
            </a:r>
          </a:p>
          <a:p xmlns:a="http://schemas.openxmlformats.org/drawingml/2006/main">
            <a:r>
              <a:t>Sliver Care helps families make that responsibility clear and keep a record of what happened. Our proposed buyer is the adult child coordinating a parent’s care.</a:t>
            </a:r>
          </a:p>
          <a:p xmlns:a="http://schemas.openxmlformats.org/drawingml/2006/main">
            <a:r>
              <a:t/>
            </a:r>
          </a:p>
          <a:p xmlns:a="http://schemas.openxmlformats.org/drawingml/2006/main">
            <a:r>
              <a:t>We have built a working local MVP with care records and downloadable reports. The working version runs in one browser, with fictional care data. We have also collected initial feedback. My teammate will explain our development and evidence.</a:t>
            </a:r>
          </a:p>
          <a:p xmlns:a="http://schemas.openxmlformats.org/drawingml/2006/main">
            <a:r>
              <a:t/>
            </a:r>
          </a:p>
          <a:p xmlns:a="http://schemas.openxmlformats.org/drawingml/2006/main">
            <a:r>
              <a:t>操作：第1页；0:50交给Speaker 2，并翻到第2页。</a:t>
            </a:r>
          </a:p>
          <a:p xmlns:a="http://schemas.openxmlformats.org/drawingml/2006/main">
            <a:r>
              <a:t/>
            </a:r>
          </a:p>
          <a:p xmlns:a="http://schemas.openxmlformats.org/drawingml/2006/main">
            <a:r>
              <a:t>Sources: Report sections 1–4; S03, S05, S14, S23–S24.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 0:50–1:35</a:t>
            </a:r>
          </a:p>
          <a:p xmlns:a="http://schemas.openxmlformats.org/drawingml/2006/main">
            <a:r>
              <a:t/>
            </a:r>
          </a:p>
          <a:p xmlns:a="http://schemas.openxmlformats.org/drawingml/2006/main">
            <a:r>
              <a:t>Our starting problem was uncertainty after a reminder: who responds, and what happens next?</a:t>
            </a:r>
          </a:p>
          <a:p xmlns:a="http://schemas.openxmlformats.org/drawingml/2006/main">
            <a:r>
              <a:t/>
            </a:r>
          </a:p>
          <a:p xmlns:a="http://schemas.openxmlformats.org/drawingml/2006/main">
            <a:r>
              <a:t>The earlier prototype illustrated the older adult and family views. The current MVP lets us start a care item, see its responsible person, save an outcome, and export it.</a:t>
            </a:r>
          </a:p>
          <a:p xmlns:a="http://schemas.openxmlformats.org/drawingml/2006/main">
            <a:r>
              <a:t/>
            </a:r>
          </a:p>
          <a:p xmlns:a="http://schemas.openxmlformats.org/drawingml/2006/main">
            <a:r>
              <a:t>We recorded twelve functional experiments and fifteen additional local checks. They tested product rules, including reporting and data retention. For example, an unresolved care item must remain visible even when it falls outside the selected reporting period. These checks show that local functions work; they do not establish that families can use the product independently.</a:t>
            </a:r>
          </a:p>
          <a:p xmlns:a="http://schemas.openxmlformats.org/drawingml/2006/main">
            <a:r>
              <a:t/>
            </a:r>
          </a:p>
          <a:p xmlns:a="http://schemas.openxmlformats.org/drawingml/2006/main">
            <a:r>
              <a:t>操作：第2页；指左侧原型、右侧MVP；1:35翻到第3页。</a:t>
            </a:r>
          </a:p>
          <a:p xmlns:a="http://schemas.openxmlformats.org/drawingml/2006/main">
            <a:r>
              <a:t/>
            </a:r>
          </a:p>
          <a:p xmlns:a="http://schemas.openxmlformats.org/drawingml/2006/main">
            <a:r>
              <a:t>Sources: Report sections 4–5; S03, S04, S14–S16. Earlier artifact date is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 1:35–2:35</a:t>
            </a:r>
          </a:p>
          <a:p xmlns:a="http://schemas.openxmlformats.org/drawingml/2006/main">
            <a:r>
              <a:t/>
            </a:r>
          </a:p>
          <a:p xmlns:a="http://schemas.openxmlformats.org/drawingml/2006/main">
            <a:r>
              <a:t>Between September twentieth and twenty-second, we consulted eight people. One contact valued clear responsibility. Another said thirty-nine yuan per month could be acceptable if the system was reliable and used regularly. Simple reminders alone might feel expensive. We also heard requests for automatic notifications and shared updates.</a:t>
            </a:r>
          </a:p>
          <a:p xmlns:a="http://schemas.openxmlformats.org/drawingml/2006/main">
            <a:r>
              <a:t/>
            </a:r>
          </a:p>
          <a:p xmlns:a="http://schemas.openxmlformats.org/drawingml/2006/main">
            <a:r>
              <a:t>The screenshots are selected examples, so we cannot turn these comments into response percentages. This feedback supports our focus and identifies missing capabilities; it does not prove demand. We also emailed ten organisations with an MVP video and product introduction. As of September twenty-second, none had replied. We have no purchase or agreed pilot.</a:t>
            </a:r>
          </a:p>
          <a:p xmlns:a="http://schemas.openxmlformats.org/drawingml/2006/main">
            <a:r>
              <a:t/>
            </a:r>
          </a:p>
          <a:p xmlns:a="http://schemas.openxmlformats.org/drawingml/2006/main">
            <a:r>
              <a:t>Now we will demonstrate the working care flow.</a:t>
            </a:r>
          </a:p>
          <a:p xmlns:a="http://schemas.openxmlformats.org/drawingml/2006/main">
            <a:r>
              <a:t/>
            </a:r>
          </a:p>
          <a:p xmlns:a="http://schemas.openxmlformats.org/drawingml/2006/main">
            <a:r>
              <a:t>操作：第3页；2:35交给Speaker 3并翻到第4页。</a:t>
            </a:r>
          </a:p>
          <a:p xmlns:a="http://schemas.openxmlformats.org/drawingml/2006/main">
            <a:r>
              <a:t/>
            </a:r>
          </a:p>
          <a:p xmlns:a="http://schemas.openxmlformats.org/drawingml/2006/main">
            <a:r>
              <a:t>Sources: Report sections 5 and 7; S17–S24. Four chats are selected excerpts. No percentages or completed trials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 2:35–4:55</a:t>
            </a:r>
          </a:p>
          <a:p xmlns:a="http://schemas.openxmlformats.org/drawingml/2006/main">
            <a:r>
              <a:t/>
            </a:r>
          </a:p>
          <a:p xmlns:a="http://schemas.openxmlformats.org/drawingml/2006/main">
            <a:r>
              <a:t>We will use Margaret and Alex, a fictional family. We enabled simulated Plus before this presentation. No money was charged.</a:t>
            </a:r>
          </a:p>
          <a:p xmlns:a="http://schemas.openxmlformats.org/drawingml/2006/main">
            <a:r>
              <a:t/>
            </a:r>
          </a:p>
          <a:p xmlns:a="http://schemas.openxmlformats.org/drawingml/2006/main">
            <a:r>
              <a:t>Let’s start a care reminder. Alex is the responsible family member. The name makes the next action clear to anyone reviewing this local record.</a:t>
            </a:r>
          </a:p>
          <a:p xmlns:a="http://schemas.openxmlformats.org/drawingml/2006/main">
            <a:r>
              <a:t/>
            </a:r>
          </a:p>
          <a:p xmlns:a="http://schemas.openxmlformats.org/drawingml/2006/main">
            <a:r>
              <a:t>Margaret needs help. This changes the local record; it does not send a real notification.</a:t>
            </a:r>
          </a:p>
          <a:p xmlns:a="http://schemas.openxmlformats.org/drawingml/2006/main">
            <a:r>
              <a:t/>
            </a:r>
          </a:p>
          <a:p xmlns:a="http://schemas.openxmlformats.org/drawingml/2006/main">
            <a:r>
              <a:t>Alex follows up and records what happened. I’ll save the outcome here: Alex contacted Margaret and agreed the next step.</a:t>
            </a:r>
          </a:p>
          <a:p xmlns:a="http://schemas.openxmlformats.org/drawingml/2006/main">
            <a:r>
              <a:t/>
            </a:r>
          </a:p>
          <a:p xmlns:a="http://schemas.openxmlformats.org/drawingml/2006/main">
            <a:r>
              <a:t>The saved outcome now appears in the report. Here is the sentence we just entered.</a:t>
            </a:r>
          </a:p>
          <a:p xmlns:a="http://schemas.openxmlformats.org/drawingml/2006/main">
            <a:r>
              <a:t/>
            </a:r>
          </a:p>
          <a:p xmlns:a="http://schemas.openxmlformats.org/drawingml/2006/main">
            <a:r>
              <a:t>We can also take this record away. I’ll download the report and open the file. The same sentence is here.</a:t>
            </a:r>
          </a:p>
          <a:p xmlns:a="http://schemas.openxmlformats.org/drawingml/2006/main">
            <a:r>
              <a:t/>
            </a:r>
          </a:p>
          <a:p xmlns:a="http://schemas.openxmlformats.org/drawingml/2006/main">
            <a:r>
              <a:t>This report comes from the saved care record. It does not use AI generation.</a:t>
            </a:r>
          </a:p>
          <a:p xmlns:a="http://schemas.openxmlformats.org/drawingml/2006/main">
            <a:r>
              <a:t/>
            </a:r>
          </a:p>
          <a:p xmlns:a="http://schemas.openxmlformats.org/drawingml/2006/main">
            <a:r>
              <a:t>操作：2:50切工作台；按操作表执行。4:55返回第5页。故障超过10秒切备用；5:15无条件交给Speaker 4。</a:t>
            </a:r>
          </a:p>
          <a:p xmlns:a="http://schemas.openxmlformats.org/drawingml/2006/main">
            <a:r>
              <a:t/>
            </a:r>
          </a:p>
          <a:p xmlns:a="http://schemas.openxmlformats.org/drawingml/2006/main">
            <a:r>
              <a:t>Sources: Local workspace UI and downloaded report. Controlled fictional scenario, no external participant.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 4:55–5:15</a:t>
            </a:r>
          </a:p>
          <a:p xmlns:a="http://schemas.openxmlformats.org/drawingml/2006/main">
            <a:r>
              <a:t/>
            </a:r>
          </a:p>
          <a:p xmlns:a="http://schemas.openxmlformats.org/drawingml/2006/main">
            <a:r>
              <a:t>The product connects a named person with a saved follow-up result. Plus is proposed at thirty-nine yuan per family per month. Today’s demo is local and free. Shared accounts and remote notifications remain unbuilt. My teammate will explain our decision.</a:t>
            </a:r>
          </a:p>
          <a:p xmlns:a="http://schemas.openxmlformats.org/drawingml/2006/main">
            <a:r>
              <a:t/>
            </a:r>
          </a:p>
          <a:p xmlns:a="http://schemas.openxmlformats.org/drawingml/2006/main">
            <a:r>
              <a:t>操作：第5页；若已超过5:05，删去价格句；5:15翻到第6页交接。</a:t>
            </a:r>
          </a:p>
          <a:p xmlns:a="http://schemas.openxmlformats.org/drawingml/2006/main">
            <a:r>
              <a:t/>
            </a:r>
          </a:p>
          <a:p xmlns:a="http://schemas.openxmlformats.org/drawingml/2006/main">
            <a:r>
              <a:t>Sources: Report sections 3 and 8; S05, S15, S19.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 5:15–6:30</a:t>
            </a:r>
          </a:p>
          <a:p xmlns:a="http://schemas.openxmlformats.org/drawingml/2006/main">
            <a:r>
              <a:t/>
            </a:r>
          </a:p>
          <a:p xmlns:a="http://schemas.openxmlformats.org/drawingml/2006/main">
            <a:r>
              <a:t>Our decision is to stop after the course. The main reason is our team’s time and future resource commitments. We cannot commit the ongoing development, maintenance and user support that a live service would need.</a:t>
            </a:r>
          </a:p>
          <a:p xmlns:a="http://schemas.openxmlformats.org/drawingml/2006/main">
            <a:r>
              <a:t/>
            </a:r>
          </a:p>
          <a:p xmlns:a="http://schemas.openxmlformats.org/drawingml/2006/main">
            <a:r>
              <a:t>The feedback remains useful, but it does not establish repeat use or paid demand. These are separate limits on what we can claim.</a:t>
            </a:r>
          </a:p>
          <a:p xmlns:a="http://schemas.openxmlformats.org/drawingml/2006/main">
            <a:r>
              <a:t/>
            </a:r>
          </a:p>
          <a:p xmlns:a="http://schemas.openxmlformats.org/drawingml/2006/main">
            <a:r>
              <a:t>In the first thirty days, we will organise the feedback and archive the product, report and evidence. In days thirty-one to sixty, we will complete our team review and record unresolved questions. In days sixty-one to ninety, the project will remain stopped, with no new development or launch promises.</a:t>
            </a:r>
          </a:p>
          <a:p xmlns:a="http://schemas.openxmlformats.org/drawingml/2006/main">
            <a:r>
              <a:t/>
            </a:r>
          </a:p>
          <a:p xmlns:a="http://schemas.openxmlformats.org/drawingml/2006/main">
            <a:r>
              <a:t>We have built a working local flow and learned what still needs testing. Thank you. We are ready for questions.</a:t>
            </a:r>
          </a:p>
          <a:p xmlns:a="http://schemas.openxmlformats.org/drawingml/2006/main">
            <a:r>
              <a:t/>
            </a:r>
          </a:p>
          <a:p xmlns:a="http://schemas.openxmlformats.org/drawingml/2006/main">
            <a:r>
              <a:t>操作：第6页讲完保持此页；不要继续翻到备用页。目标6:30结束。</a:t>
            </a:r>
          </a:p>
          <a:p xmlns:a="http://schemas.openxmlformats.org/drawingml/2006/main">
            <a:r>
              <a:t/>
            </a:r>
          </a:p>
          <a:p xmlns:a="http://schemas.openxmlformats.org/drawingml/2006/main">
            <a:r>
              <a:t>Sources: Owner-confirmed stop reason in this task; report sections 1 and 8; S02. Future actions are plans, not completed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 Sources: report section 3 and 6, S05, S10, S15, S19. Monthly allowance: Plus 20, Pro 5x 100, Pro 20x 400. Local templates, no connected AI. Pricing is proposed, no live payment. Variable cost RMB18.19 is an illustrative assumption, not a measured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 Sources: S04, S15–S24; report sections 5, 7 and 8; owner decision S02. Do not equate silence with rejection, conditional price acceptance with payment, or local functional checks with customer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25875400a54a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b20f449cd94229" /><Relationship Type="http://schemas.openxmlformats.org/officeDocument/2006/relationships/slideLayout" Target="/ppt/slideLayouts/slideLayout1.xml" Id="R8aeaa91bcc634a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eaa91bcc634a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0375cc5a3544b2" /><Relationship Type="http://schemas.openxmlformats.org/officeDocument/2006/relationships/notesSlide" Target="/ppt/notesSlides/notesSlide1.xml" Id="Ra1f11a07680b4b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ebb6624f574ecc" /><Relationship Type="http://schemas.openxmlformats.org/officeDocument/2006/relationships/image" Target="/ppt/media/image.png" Id="R85a3961c653444ca" /><Relationship Type="http://schemas.openxmlformats.org/officeDocument/2006/relationships/image" Target="/ppt/media/image.jpeg" Id="Rcf3c0018f22c4b78" /><Relationship Type="http://schemas.openxmlformats.org/officeDocument/2006/relationships/notesSlide" Target="/ppt/notesSlides/notesSlide2.xml" Id="Ree3969bdbe0e49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2d9087930e4b1d" /><Relationship Type="http://schemas.openxmlformats.org/officeDocument/2006/relationships/image" Target="/ppt/media/image2.png" Id="Rb9094b2160124ad3" /><Relationship Type="http://schemas.openxmlformats.org/officeDocument/2006/relationships/notesSlide" Target="/ppt/notesSlides/notesSlide3.xml" Id="R1cdeff39d4fe47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17f4d4be1b4547" /><Relationship Type="http://schemas.openxmlformats.org/officeDocument/2006/relationships/notesSlide" Target="/ppt/notesSlides/notesSlide4.xml" Id="R70d04e312d2046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d0a0db632c47d6" /><Relationship Type="http://schemas.openxmlformats.org/officeDocument/2006/relationships/notesSlide" Target="/ppt/notesSlides/notesSlide5.xml" Id="Rd37aeccce81946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180ee3b77d4fde" /><Relationship Type="http://schemas.openxmlformats.org/officeDocument/2006/relationships/notesSlide" Target="/ppt/notesSlides/notesSlide6.xml" Id="R7c55ed2b1b2e4f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dce99979d4451d" /><Relationship Type="http://schemas.openxmlformats.org/officeDocument/2006/relationships/notesSlide" Target="/ppt/notesSlides/notesSlide7.xml" Id="Rebc5c02a829943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2e374ba9ef42c1" /><Relationship Type="http://schemas.openxmlformats.org/officeDocument/2006/relationships/notesSlide" Target="/ppt/notesSlides/notesSlide8.xml" Id="Ra545d55898404e58" /></Relationships>
</file>

<file path=ppt/slides/slide1.xml><?xml version="1.0" encoding="utf-8"?>
<p:sld xmlns:p="http://schemas.openxmlformats.org/presentationml/2006/main">
  <p:cSld>
    <p:bg>
      <p:bgPr>
        <a:solidFill xmlns:a="http://schemas.openxmlformats.org/drawingml/2006/main">
          <a:srgbClr val="14181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A51207-F9A2-424B-BCC6-70F89FCFCD46}"/>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69281"/>
                </a:solidFill>
                <a:latin typeface="Arial"/>
                <a:ea typeface="Arial"/>
                <a:cs typeface="Arial"/>
              </a:defRPr>
            </a:pPr>
            <a:r>
              <a:rPr sz="1350" b="1">
                <a:solidFill>
                  <a:srgbClr val="E69281"/>
                </a:solidFill>
                <a:latin typeface="Arial"/>
                <a:ea typeface="Arial"/>
                <a:cs typeface="Arial"/>
              </a:rPr>
              <a:t>01 / WHERE WE ARE   0:00–0:50</a:t>
            </a:r>
          </a:p>
        </p:txBody>
      </p:sp>
      <p:sp>
        <p:nvSpPr>
          <p:cNvPr id="2" name="">
            <a:extLst xmlns:a="http://schemas.openxmlformats.org/drawingml/2006/main">
              <a:ext uri="{FF2B5EF4-FFF2-40B4-BE49-F238E27FC236}">
                <a16:creationId xmlns:a16="http://schemas.microsoft.com/office/drawing/2014/main" id="{8906FAA0-D45D-41B2-B447-223F82DC1019}"/>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4BC"/>
                </a:solidFill>
                <a:latin typeface="Arial"/>
                <a:ea typeface="Arial"/>
                <a:cs typeface="Arial"/>
              </a:defRPr>
            </a:pPr>
            <a:r>
              <a:rPr sz="1200" b="0">
                <a:solidFill>
                  <a:srgbClr val="BBC4BC"/>
                </a:solidFill>
                <a:latin typeface="Arial"/>
                <a:ea typeface="Arial"/>
                <a:cs typeface="Arial"/>
              </a:rPr>
              <a:t>GROUP6   /   01 OF 06</a:t>
            </a:r>
          </a:p>
        </p:txBody>
      </p:sp>
      <p:sp>
        <p:nvSpPr>
          <p:cNvPr id="3" name="">
            <a:extLst xmlns:a="http://schemas.openxmlformats.org/drawingml/2006/main">
              <a:ext uri="{FF2B5EF4-FFF2-40B4-BE49-F238E27FC236}">
                <a16:creationId xmlns:a16="http://schemas.microsoft.com/office/drawing/2014/main" id="{CBB1BD3A-5684-459C-9770-66B66974EDA9}"/>
              </a:ext>
            </a:extLst>
          </p:cNvPr>
          <p:cNvSpPr>
            <a:spLocks xmlns:a="http://schemas.openxmlformats.org/drawingml/2006/main" noGrp="1"/>
          </p:cNvSpPr>
          <p:nvPr/>
        </p:nvSpPr>
        <p:spPr>
          <a:xfrm xmlns:a="http://schemas.openxmlformats.org/drawingml/2006/main">
            <a:off x="647700" y="1428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75" b="1">
                <a:solidFill>
                  <a:srgbClr val="F6F5EF"/>
                </a:solidFill>
                <a:latin typeface="Arial"/>
                <a:ea typeface="Arial"/>
                <a:cs typeface="Arial"/>
              </a:defRPr>
            </a:pPr>
            <a:r>
              <a:rPr sz="8775" b="1">
                <a:solidFill>
                  <a:srgbClr val="F6F5EF"/>
                </a:solidFill>
                <a:latin typeface="Arial"/>
                <a:ea typeface="Arial"/>
                <a:cs typeface="Arial"/>
              </a:rPr>
              <a:t>SLIVER CARE</a:t>
            </a:r>
          </a:p>
        </p:txBody>
      </p:sp>
      <p:sp>
        <p:nvSpPr>
          <p:cNvPr id="4" name="">
            <a:extLst xmlns:a="http://schemas.openxmlformats.org/drawingml/2006/main">
              <a:ext uri="{FF2B5EF4-FFF2-40B4-BE49-F238E27FC236}">
                <a16:creationId xmlns:a16="http://schemas.microsoft.com/office/drawing/2014/main" id="{18F7D9DF-8F26-45ED-9E13-08573F77ABAE}"/>
              </a:ext>
            </a:extLst>
          </p:cNvPr>
          <p:cNvSpPr>
            <a:spLocks xmlns:a="http://schemas.openxmlformats.org/drawingml/2006/main" noGrp="1"/>
          </p:cNvSpPr>
          <p:nvPr/>
        </p:nvSpPr>
        <p:spPr>
          <a:xfrm xmlns:a="http://schemas.openxmlformats.org/drawingml/2006/main">
            <a:off x="723900" y="32575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E69281"/>
                </a:solidFill>
                <a:latin typeface="Arial"/>
                <a:ea typeface="Arial"/>
                <a:cs typeface="Arial"/>
              </a:defRPr>
            </a:pPr>
            <a:r>
              <a:rPr sz="3075" b="1">
                <a:solidFill>
                  <a:srgbClr val="E69281"/>
                </a:solidFill>
                <a:latin typeface="Arial"/>
                <a:ea typeface="Arial"/>
                <a:cs typeface="Arial"/>
              </a:rPr>
              <a:t>Family care after the reminder</a:t>
            </a:r>
          </a:p>
        </p:txBody>
      </p:sp>
      <p:sp>
        <p:nvSpPr>
          <p:cNvPr id="5" name="">
            <a:extLst xmlns:a="http://schemas.openxmlformats.org/drawingml/2006/main">
              <a:ext uri="{FF2B5EF4-FFF2-40B4-BE49-F238E27FC236}">
                <a16:creationId xmlns:a16="http://schemas.microsoft.com/office/drawing/2014/main" id="{77336D1A-F486-49B3-9050-F99C5BB2DFA6}"/>
              </a:ext>
            </a:extLst>
          </p:cNvPr>
          <p:cNvSpPr>
            <a:spLocks xmlns:a="http://schemas.openxmlformats.org/drawingml/2006/main" noGrp="1"/>
          </p:cNvSpPr>
          <p:nvPr/>
        </p:nvSpPr>
        <p:spPr>
          <a:xfrm xmlns:a="http://schemas.openxmlformats.org/drawingml/2006/main">
            <a:off x="723900" y="43053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5EF"/>
                </a:solidFill>
                <a:latin typeface="Arial"/>
                <a:ea typeface="Arial"/>
                <a:cs typeface="Arial"/>
              </a:defRPr>
            </a:pPr>
            <a:r>
              <a:rPr sz="2550" b="0">
                <a:solidFill>
                  <a:srgbClr val="F6F5EF"/>
                </a:solidFill>
                <a:latin typeface="Arial"/>
                <a:ea typeface="Arial"/>
                <a:cs typeface="Arial"/>
              </a:rPr>
              <a:t>For adult children coordinating a parent’s care</a:t>
            </a:r>
          </a:p>
        </p:txBody>
      </p:sp>
      <p:sp>
        <p:nvSpPr>
          <p:cNvPr id="6" name="">
            <a:extLst xmlns:a="http://schemas.openxmlformats.org/drawingml/2006/main">
              <a:ext uri="{FF2B5EF4-FFF2-40B4-BE49-F238E27FC236}">
                <a16:creationId xmlns:a16="http://schemas.microsoft.com/office/drawing/2014/main" id="{2BE7E079-5E56-4341-BF12-CF35A7E039E2}"/>
              </a:ext>
            </a:extLst>
          </p:cNvPr>
          <p:cNvSpPr>
            <a:spLocks xmlns:a="http://schemas.openxmlformats.org/drawingml/2006/main" noGrp="1"/>
          </p:cNvSpPr>
          <p:nvPr/>
        </p:nvSpPr>
        <p:spPr>
          <a:xfrm xmlns:a="http://schemas.openxmlformats.org/drawingml/2006/main">
            <a:off x="723900" y="54578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4BC"/>
                </a:solidFill>
                <a:latin typeface="Arial"/>
                <a:ea typeface="Arial"/>
                <a:cs typeface="Arial"/>
              </a:defRPr>
            </a:pPr>
            <a:r>
              <a:rPr sz="2025" b="0">
                <a:solidFill>
                  <a:srgbClr val="BBC4BC"/>
                </a:solidFill>
                <a:latin typeface="Arial"/>
                <a:ea typeface="Arial"/>
                <a:cs typeface="Arial"/>
              </a:rPr>
              <a:t>Working local MVP • Initial customer feedback</a:t>
            </a:r>
          </a:p>
        </p:txBody>
      </p:sp>
    </p:spTree>
    <p:extLst>
      <p:ext uri="{BB962C8B-B14F-4D97-AF65-F5344CB8AC3E}">
        <p14:creationId xmlns:p14="http://schemas.microsoft.com/office/powerpoint/2010/main" val="476975408"/>
      </p:ext>
    </p:extLst>
  </p:cSld>
</p:sld>
</file>

<file path=ppt/slides/slide2.xml><?xml version="1.0" encoding="utf-8"?>
<p:sld xmlns:p="http://schemas.openxmlformats.org/presentationml/2006/main">
  <p:cSld>
    <p:bg>
      <p:bgPr>
        <a:solidFill xmlns:a="http://schemas.openxmlformats.org/drawingml/2006/main">
          <a:srgbClr val="E8E5D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01F544-A0AE-4037-8D88-06102A8E20C4}"/>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63B36"/>
                </a:solidFill>
                <a:latin typeface="Arial"/>
                <a:ea typeface="Arial"/>
                <a:cs typeface="Arial"/>
              </a:defRPr>
            </a:pPr>
            <a:r>
              <a:rPr sz="1350" b="1">
                <a:solidFill>
                  <a:srgbClr val="A63B36"/>
                </a:solidFill>
                <a:latin typeface="Arial"/>
                <a:ea typeface="Arial"/>
                <a:cs typeface="Arial"/>
              </a:rPr>
              <a:t>02 / EVIDENCE AND COMMITMENT   0:50–1:35</a:t>
            </a:r>
          </a:p>
        </p:txBody>
      </p:sp>
      <p:sp>
        <p:nvSpPr>
          <p:cNvPr id="2" name="">
            <a:extLst xmlns:a="http://schemas.openxmlformats.org/drawingml/2006/main">
              <a:ext uri="{FF2B5EF4-FFF2-40B4-BE49-F238E27FC236}">
                <a16:creationId xmlns:a16="http://schemas.microsoft.com/office/drawing/2014/main" id="{6F44372A-8A35-423F-8BEE-F3FF1C86C2D3}"/>
              </a:ext>
            </a:extLst>
          </p:cNvPr>
          <p:cNvSpPr>
            <a:spLocks xmlns:a="http://schemas.openxmlformats.org/drawingml/2006/main" noGrp="1"/>
          </p:cNvSpPr>
          <p:nvPr/>
        </p:nvSpPr>
        <p:spPr>
          <a:xfrm xmlns:a="http://schemas.openxmlformats.org/drawingml/2006/main">
            <a:off x="685800" y="9144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41819"/>
                </a:solidFill>
                <a:latin typeface="Arial"/>
                <a:ea typeface="Arial"/>
                <a:cs typeface="Arial"/>
              </a:defRPr>
            </a:pPr>
            <a:r>
              <a:rPr sz="3975" b="1">
                <a:solidFill>
                  <a:srgbClr val="141819"/>
                </a:solidFill>
                <a:latin typeface="Arial"/>
                <a:ea typeface="Arial"/>
                <a:cs typeface="Arial"/>
              </a:rPr>
              <a:t>Problem, prototype and MVP</a:t>
            </a:r>
          </a:p>
        </p:txBody>
      </p:sp>
      <p:sp>
        <p:nvSpPr>
          <p:cNvPr id="3" name="">
            <a:extLst xmlns:a="http://schemas.openxmlformats.org/drawingml/2006/main">
              <a:ext uri="{FF2B5EF4-FFF2-40B4-BE49-F238E27FC236}">
                <a16:creationId xmlns:a16="http://schemas.microsoft.com/office/drawing/2014/main" id="{67F46FF3-57E4-4E3E-8ADE-6CEB7B8058EB}"/>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59"/>
                </a:solidFill>
                <a:latin typeface="Arial"/>
                <a:ea typeface="Arial"/>
                <a:cs typeface="Arial"/>
              </a:defRPr>
            </a:pPr>
            <a:r>
              <a:rPr sz="1200" b="0">
                <a:solidFill>
                  <a:srgbClr val="536159"/>
                </a:solidFill>
                <a:latin typeface="Arial"/>
                <a:ea typeface="Arial"/>
                <a:cs typeface="Arial"/>
              </a:rPr>
              <a:t>GROUP6   /   02 OF 06</a:t>
            </a:r>
          </a:p>
        </p:txBody>
      </p:sp>
      <p:sp>
        <p:nvSpPr>
          <p:cNvPr id="4" name="">
            <a:extLst xmlns:a="http://schemas.openxmlformats.org/drawingml/2006/main">
              <a:ext uri="{FF2B5EF4-FFF2-40B4-BE49-F238E27FC236}">
                <a16:creationId xmlns:a16="http://schemas.microsoft.com/office/drawing/2014/main" id="{6DDB1558-9B6A-4AF9-BCDF-45F6AAB91018}"/>
              </a:ext>
            </a:extLst>
          </p:cNvPr>
          <p:cNvSpPr>
            <a:spLocks xmlns:a="http://schemas.openxmlformats.org/drawingml/2006/main" noGrp="1"/>
          </p:cNvSpPr>
          <p:nvPr/>
        </p:nvSpPr>
        <p:spPr>
          <a:xfrm xmlns:a="http://schemas.openxmlformats.org/drawingml/2006/main">
            <a:off x="723900" y="17430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63B36"/>
                </a:solidFill>
                <a:latin typeface="Arial"/>
                <a:ea typeface="Arial"/>
                <a:cs typeface="Arial"/>
              </a:defRPr>
            </a:pPr>
            <a:r>
              <a:rPr sz="2250" b="1">
                <a:solidFill>
                  <a:srgbClr val="A63B36"/>
                </a:solidFill>
                <a:latin typeface="Arial"/>
                <a:ea typeface="Arial"/>
                <a:cs typeface="Arial"/>
              </a:rPr>
              <a:t>Who follows up — and what happened?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5a3961c653444ca"/>
          <a:stretch xmlns:a="http://schemas.openxmlformats.org/drawingml/2006/main"/>
        </p:blipFill>
        <p:spPr>
          <a:xfrm xmlns:a="http://schemas.openxmlformats.org/drawingml/2006/main">
            <a:off x="1232796" y="2314575"/>
            <a:ext cx="3716133" cy="28956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f3c0018f22c4b78"/>
          <ns0:srcRect xmlns:ns0="http://schemas.openxmlformats.org/drawingml/2006/main" l="22627" t="39500" r="43220" b="29100"/>
          <a:stretch xmlns:a="http://schemas.openxmlformats.org/drawingml/2006/main"/>
        </p:blipFill>
        <p:spPr>
          <a:xfrm xmlns:a="http://schemas.openxmlformats.org/drawingml/2006/main">
            <a:off x="6905625" y="2247900"/>
            <a:ext cx="3886200" cy="3028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A0230A-A1BC-4811-9BA8-2D685D0F7C79}"/>
              </a:ext>
            </a:extLst>
          </p:cNvPr>
          <p:cNvSpPr>
            <a:spLocks xmlns:a="http://schemas.openxmlformats.org/drawingml/2006/main" noGrp="1"/>
          </p:cNvSpPr>
          <p:nvPr/>
        </p:nvSpPr>
        <p:spPr>
          <a:xfrm xmlns:a="http://schemas.openxmlformats.org/drawingml/2006/main">
            <a:off x="723900" y="53816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819"/>
                </a:solidFill>
                <a:latin typeface="Arial"/>
                <a:ea typeface="Arial"/>
                <a:cs typeface="Arial"/>
              </a:defRPr>
            </a:pPr>
            <a:r>
              <a:rPr sz="2025" b="1">
                <a:solidFill>
                  <a:srgbClr val="141819"/>
                </a:solidFill>
                <a:latin typeface="Arial"/>
                <a:ea typeface="Arial"/>
                <a:cs typeface="Arial"/>
              </a:rPr>
              <a:t>Earlier retained prototype</a:t>
            </a:r>
          </a:p>
        </p:txBody>
      </p:sp>
      <p:sp>
        <p:nvSpPr>
          <p:cNvPr id="8" name="">
            <a:extLst xmlns:a="http://schemas.openxmlformats.org/drawingml/2006/main">
              <a:ext uri="{FF2B5EF4-FFF2-40B4-BE49-F238E27FC236}">
                <a16:creationId xmlns:a16="http://schemas.microsoft.com/office/drawing/2014/main" id="{91E5CA54-F2BD-484C-9E32-89FCEED7D24A}"/>
              </a:ext>
            </a:extLst>
          </p:cNvPr>
          <p:cNvSpPr>
            <a:spLocks xmlns:a="http://schemas.openxmlformats.org/drawingml/2006/main" noGrp="1"/>
          </p:cNvSpPr>
          <p:nvPr/>
        </p:nvSpPr>
        <p:spPr>
          <a:xfrm xmlns:a="http://schemas.openxmlformats.org/drawingml/2006/main">
            <a:off x="6286500" y="53816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819"/>
                </a:solidFill>
                <a:latin typeface="Arial"/>
                <a:ea typeface="Arial"/>
                <a:cs typeface="Arial"/>
              </a:defRPr>
            </a:pPr>
            <a:r>
              <a:rPr sz="2025" b="1">
                <a:solidFill>
                  <a:srgbClr val="141819"/>
                </a:solidFill>
                <a:latin typeface="Arial"/>
                <a:ea typeface="Arial"/>
                <a:cs typeface="Arial"/>
              </a:rPr>
              <a:t>Saved care records and outcomes</a:t>
            </a:r>
          </a:p>
        </p:txBody>
      </p:sp>
      <p:sp>
        <p:nvSpPr>
          <p:cNvPr id="9" name="">
            <a:extLst xmlns:a="http://schemas.openxmlformats.org/drawingml/2006/main">
              <a:ext uri="{FF2B5EF4-FFF2-40B4-BE49-F238E27FC236}">
                <a16:creationId xmlns:a16="http://schemas.microsoft.com/office/drawing/2014/main" id="{CF2BEAFF-6CBE-4982-A635-6583AF25AEDF}"/>
              </a:ext>
            </a:extLst>
          </p:cNvPr>
          <p:cNvSpPr>
            <a:spLocks xmlns:a="http://schemas.openxmlformats.org/drawingml/2006/main" noGrp="1"/>
          </p:cNvSpPr>
          <p:nvPr/>
        </p:nvSpPr>
        <p:spPr>
          <a:xfrm xmlns:a="http://schemas.openxmlformats.org/drawingml/2006/main">
            <a:off x="723900" y="59531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159"/>
                </a:solidFill>
                <a:latin typeface="Arial"/>
                <a:ea typeface="Arial"/>
                <a:cs typeface="Arial"/>
              </a:defRPr>
            </a:pPr>
            <a:r>
              <a:rPr sz="1650" b="0">
                <a:solidFill>
                  <a:srgbClr val="536159"/>
                </a:solidFill>
                <a:latin typeface="Arial"/>
                <a:ea typeface="Arial"/>
                <a:cs typeface="Arial"/>
              </a:rPr>
              <a:t>12 functional experiments + 15 additional local checks; no independent user task test</a:t>
            </a:r>
          </a:p>
        </p:txBody>
      </p:sp>
    </p:spTree>
    <p:extLst>
      <p:ext uri="{BB962C8B-B14F-4D97-AF65-F5344CB8AC3E}">
        <p14:creationId xmlns:p14="http://schemas.microsoft.com/office/powerpoint/2010/main" val="917969444"/>
      </p:ext>
    </p:extLst>
  </p:cSld>
</p:sld>
</file>

<file path=ppt/slides/slide3.xml><?xml version="1.0" encoding="utf-8"?>
<p:sld xmlns:p="http://schemas.openxmlformats.org/presentationml/2006/main">
  <p:cSld>
    <p:bg>
      <p:bgPr>
        <a:solidFill xmlns:a="http://schemas.openxmlformats.org/drawingml/2006/main">
          <a:srgbClr val="E8E5D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1C5FE9-22EB-4871-A682-CE2B05C5CAF5}"/>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63B36"/>
                </a:solidFill>
                <a:latin typeface="Arial"/>
                <a:ea typeface="Arial"/>
                <a:cs typeface="Arial"/>
              </a:defRPr>
            </a:pPr>
            <a:r>
              <a:rPr sz="1350" b="1">
                <a:solidFill>
                  <a:srgbClr val="A63B36"/>
                </a:solidFill>
                <a:latin typeface="Arial"/>
                <a:ea typeface="Arial"/>
                <a:cs typeface="Arial"/>
              </a:rPr>
              <a:t>02 / EVIDENCE AND COMMITMENT   1:35–2:35</a:t>
            </a:r>
          </a:p>
        </p:txBody>
      </p:sp>
      <p:sp>
        <p:nvSpPr>
          <p:cNvPr id="2" name="">
            <a:extLst xmlns:a="http://schemas.openxmlformats.org/drawingml/2006/main">
              <a:ext uri="{FF2B5EF4-FFF2-40B4-BE49-F238E27FC236}">
                <a16:creationId xmlns:a16="http://schemas.microsoft.com/office/drawing/2014/main" id="{ECEAE93B-7E6A-486E-91FE-A280768FAF5D}"/>
              </a:ext>
            </a:extLst>
          </p:cNvPr>
          <p:cNvSpPr>
            <a:spLocks xmlns:a="http://schemas.openxmlformats.org/drawingml/2006/main" noGrp="1"/>
          </p:cNvSpPr>
          <p:nvPr/>
        </p:nvSpPr>
        <p:spPr>
          <a:xfrm xmlns:a="http://schemas.openxmlformats.org/drawingml/2006/main">
            <a:off x="685800" y="9144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41819"/>
                </a:solidFill>
                <a:latin typeface="Arial"/>
                <a:ea typeface="Arial"/>
                <a:cs typeface="Arial"/>
              </a:defRPr>
            </a:pPr>
            <a:r>
              <a:rPr sz="3975" b="1">
                <a:solidFill>
                  <a:srgbClr val="141819"/>
                </a:solidFill>
                <a:latin typeface="Arial"/>
                <a:ea typeface="Arial"/>
                <a:cs typeface="Arial"/>
              </a:rPr>
              <a:t>Feedback and commitment</a:t>
            </a:r>
          </a:p>
        </p:txBody>
      </p:sp>
      <p:sp>
        <p:nvSpPr>
          <p:cNvPr id="3" name="">
            <a:extLst xmlns:a="http://schemas.openxmlformats.org/drawingml/2006/main">
              <a:ext uri="{FF2B5EF4-FFF2-40B4-BE49-F238E27FC236}">
                <a16:creationId xmlns:a16="http://schemas.microsoft.com/office/drawing/2014/main" id="{198B37A1-79B5-4C27-85E7-5FE9EF8E24FD}"/>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59"/>
                </a:solidFill>
                <a:latin typeface="Arial"/>
                <a:ea typeface="Arial"/>
                <a:cs typeface="Arial"/>
              </a:defRPr>
            </a:pPr>
            <a:r>
              <a:rPr sz="1200" b="0">
                <a:solidFill>
                  <a:srgbClr val="536159"/>
                </a:solidFill>
                <a:latin typeface="Arial"/>
                <a:ea typeface="Arial"/>
                <a:cs typeface="Arial"/>
              </a:rPr>
              <a:t>GROUP6   /   03 OF 06</a:t>
            </a:r>
          </a:p>
        </p:txBody>
      </p:sp>
      <p:sp>
        <p:nvSpPr>
          <p:cNvPr id="4" name="">
            <a:extLst xmlns:a="http://schemas.openxmlformats.org/drawingml/2006/main">
              <a:ext uri="{FF2B5EF4-FFF2-40B4-BE49-F238E27FC236}">
                <a16:creationId xmlns:a16="http://schemas.microsoft.com/office/drawing/2014/main" id="{2810F254-FC93-4DD1-9862-CD95A8D2BC2C}"/>
              </a:ext>
            </a:extLst>
          </p:cNvPr>
          <p:cNvSpPr>
            <a:spLocks xmlns:a="http://schemas.openxmlformats.org/drawingml/2006/main" noGrp="1"/>
          </p:cNvSpPr>
          <p:nvPr/>
        </p:nvSpPr>
        <p:spPr>
          <a:xfrm xmlns:a="http://schemas.openxmlformats.org/drawingml/2006/main">
            <a:off x="685800" y="1952625"/>
            <a:ext cx="138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A63B36"/>
                </a:solidFill>
                <a:latin typeface="Arial"/>
                <a:ea typeface="Arial"/>
                <a:cs typeface="Arial"/>
              </a:defRPr>
            </a:pPr>
            <a:r>
              <a:rPr sz="7350" b="1">
                <a:solidFill>
                  <a:srgbClr val="A63B36"/>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AB2C5B31-EA92-4C69-8DDB-537C03572C45}"/>
              </a:ext>
            </a:extLst>
          </p:cNvPr>
          <p:cNvSpPr>
            <a:spLocks xmlns:a="http://schemas.openxmlformats.org/drawingml/2006/main" noGrp="1"/>
          </p:cNvSpPr>
          <p:nvPr/>
        </p:nvSpPr>
        <p:spPr>
          <a:xfrm xmlns:a="http://schemas.openxmlformats.org/drawingml/2006/main">
            <a:off x="1981200" y="220027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819"/>
                </a:solidFill>
                <a:latin typeface="Arial"/>
                <a:ea typeface="Arial"/>
                <a:cs typeface="Arial"/>
              </a:defRPr>
            </a:pPr>
            <a:r>
              <a:rPr sz="2100" b="1">
                <a:solidFill>
                  <a:srgbClr val="141819"/>
                </a:solidFill>
                <a:latin typeface="Arial"/>
                <a:ea typeface="Arial"/>
                <a:cs typeface="Arial"/>
              </a:rPr>
              <a:t>Individuals consulted</a:t>
            </a:r>
          </a:p>
        </p:txBody>
      </p:sp>
      <p:sp>
        <p:nvSpPr>
          <p:cNvPr id="6" name="">
            <a:extLst xmlns:a="http://schemas.openxmlformats.org/drawingml/2006/main">
              <a:ext uri="{FF2B5EF4-FFF2-40B4-BE49-F238E27FC236}">
                <a16:creationId xmlns:a16="http://schemas.microsoft.com/office/drawing/2014/main" id="{B3492E96-84B2-4A63-B08C-A0606A8B397D}"/>
              </a:ext>
            </a:extLst>
          </p:cNvPr>
          <p:cNvSpPr>
            <a:spLocks xmlns:a="http://schemas.openxmlformats.org/drawingml/2006/main" noGrp="1"/>
          </p:cNvSpPr>
          <p:nvPr/>
        </p:nvSpPr>
        <p:spPr>
          <a:xfrm xmlns:a="http://schemas.openxmlformats.org/drawingml/2006/main">
            <a:off x="723900" y="305752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59"/>
                </a:solidFill>
                <a:latin typeface="Arial"/>
                <a:ea typeface="Arial"/>
                <a:cs typeface="Arial"/>
              </a:defRPr>
            </a:pPr>
            <a:r>
              <a:rPr sz="1875" b="0">
                <a:solidFill>
                  <a:srgbClr val="536159"/>
                </a:solidFill>
                <a:latin typeface="Arial"/>
                <a:ea typeface="Arial"/>
                <a:cs typeface="Arial"/>
              </a:rPr>
              <a:t>20–22 September 2026</a:t>
            </a:r>
          </a:p>
          <a:p xmlns:a="http://schemas.openxmlformats.org/drawingml/2006/main">
            <a:pPr>
              <a:defRPr sz="1875" b="0">
                <a:solidFill>
                  <a:srgbClr val="536159"/>
                </a:solidFill>
                <a:latin typeface="Arial"/>
                <a:ea typeface="Arial"/>
                <a:cs typeface="Arial"/>
              </a:defRPr>
            </a:pPr>
            <a:r>
              <a:rPr sz="1875" b="0">
                <a:solidFill>
                  <a:srgbClr val="536159"/>
                </a:solidFill>
                <a:latin typeface="Arial"/>
                <a:ea typeface="Arial"/>
                <a:cs typeface="Arial"/>
              </a:rPr>
              <a:t>Selected chat evidence</a:t>
            </a:r>
          </a:p>
        </p:txBody>
      </p:sp>
      <p:sp>
        <p:nvSpPr>
          <p:cNvPr id="7" name="">
            <a:extLst xmlns:a="http://schemas.openxmlformats.org/drawingml/2006/main">
              <a:ext uri="{FF2B5EF4-FFF2-40B4-BE49-F238E27FC236}">
                <a16:creationId xmlns:a16="http://schemas.microsoft.com/office/drawing/2014/main" id="{42159050-7721-4C68-A790-9CA80048CE32}"/>
              </a:ext>
            </a:extLst>
          </p:cNvPr>
          <p:cNvSpPr>
            <a:spLocks xmlns:a="http://schemas.openxmlformats.org/drawingml/2006/main" noGrp="1"/>
          </p:cNvSpPr>
          <p:nvPr/>
        </p:nvSpPr>
        <p:spPr>
          <a:xfrm xmlns:a="http://schemas.openxmlformats.org/drawingml/2006/main">
            <a:off x="685800" y="3943350"/>
            <a:ext cx="1428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41819"/>
                </a:solidFill>
                <a:latin typeface="Arial"/>
                <a:ea typeface="Arial"/>
                <a:cs typeface="Arial"/>
              </a:defRPr>
            </a:pPr>
            <a:r>
              <a:rPr sz="7350" b="1">
                <a:solidFill>
                  <a:srgbClr val="141819"/>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0005AB5D-3F3A-4FFE-AA06-C39647626A04}"/>
              </a:ext>
            </a:extLst>
          </p:cNvPr>
          <p:cNvSpPr>
            <a:spLocks xmlns:a="http://schemas.openxmlformats.org/drawingml/2006/main" noGrp="1"/>
          </p:cNvSpPr>
          <p:nvPr/>
        </p:nvSpPr>
        <p:spPr>
          <a:xfrm xmlns:a="http://schemas.openxmlformats.org/drawingml/2006/main">
            <a:off x="2190750" y="4191000"/>
            <a:ext cx="309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819"/>
                </a:solidFill>
                <a:latin typeface="Arial"/>
                <a:ea typeface="Arial"/>
                <a:cs typeface="Arial"/>
              </a:defRPr>
            </a:pPr>
            <a:r>
              <a:rPr sz="2100" b="1">
                <a:solidFill>
                  <a:srgbClr val="141819"/>
                </a:solidFill>
                <a:latin typeface="Arial"/>
                <a:ea typeface="Arial"/>
                <a:cs typeface="Arial"/>
              </a:rPr>
              <a:t>Organisations emailed</a:t>
            </a:r>
          </a:p>
        </p:txBody>
      </p:sp>
      <p:sp>
        <p:nvSpPr>
          <p:cNvPr id="9" name="">
            <a:extLst xmlns:a="http://schemas.openxmlformats.org/drawingml/2006/main">
              <a:ext uri="{FF2B5EF4-FFF2-40B4-BE49-F238E27FC236}">
                <a16:creationId xmlns:a16="http://schemas.microsoft.com/office/drawing/2014/main" id="{AB5840AD-9408-4E4D-A67B-416B72BB8B9D}"/>
              </a:ext>
            </a:extLst>
          </p:cNvPr>
          <p:cNvSpPr>
            <a:spLocks xmlns:a="http://schemas.openxmlformats.org/drawingml/2006/main" noGrp="1"/>
          </p:cNvSpPr>
          <p:nvPr/>
        </p:nvSpPr>
        <p:spPr>
          <a:xfrm xmlns:a="http://schemas.openxmlformats.org/drawingml/2006/main">
            <a:off x="723900" y="5172075"/>
            <a:ext cx="4429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59"/>
                </a:solidFill>
                <a:latin typeface="Arial"/>
                <a:ea typeface="Arial"/>
                <a:cs typeface="Arial"/>
              </a:defRPr>
            </a:pPr>
            <a:r>
              <a:rPr sz="1875" b="0">
                <a:solidFill>
                  <a:srgbClr val="536159"/>
                </a:solidFill>
                <a:latin typeface="Arial"/>
                <a:ea typeface="Arial"/>
                <a:cs typeface="Arial"/>
              </a:rPr>
              <a:t>Video + product introduction</a:t>
            </a:r>
          </a:p>
          <a:p xmlns:a="http://schemas.openxmlformats.org/drawingml/2006/main">
            <a:pPr>
              <a:defRPr sz="1875" b="0">
                <a:solidFill>
                  <a:srgbClr val="536159"/>
                </a:solidFill>
                <a:latin typeface="Arial"/>
                <a:ea typeface="Arial"/>
                <a:cs typeface="Arial"/>
              </a:defRPr>
            </a:pPr>
            <a:r>
              <a:rPr sz="1875" b="0">
                <a:solidFill>
                  <a:srgbClr val="536159"/>
                </a:solidFill>
                <a:latin typeface="Arial"/>
                <a:ea typeface="Arial"/>
                <a:cs typeface="Arial"/>
              </a:rPr>
              <a:t>No replies by 22 September</a:t>
            </a:r>
          </a:p>
        </p:txBody>
      </p:sp>
      <p:sp>
        <p:nvSpPr>
          <p:cNvPr id="10" name="">
            <a:extLst xmlns:a="http://schemas.openxmlformats.org/drawingml/2006/main">
              <a:ext uri="{FF2B5EF4-FFF2-40B4-BE49-F238E27FC236}">
                <a16:creationId xmlns:a16="http://schemas.microsoft.com/office/drawing/2014/main" id="{8819834A-3EE2-4017-9137-CEA561F3EEC5}"/>
              </a:ext>
            </a:extLst>
          </p:cNvPr>
          <p:cNvSpPr>
            <a:spLocks xmlns:a="http://schemas.openxmlformats.org/drawingml/2006/main" noGrp="1"/>
          </p:cNvSpPr>
          <p:nvPr/>
        </p:nvSpPr>
        <p:spPr>
          <a:xfrm xmlns:a="http://schemas.openxmlformats.org/drawingml/2006/main">
            <a:off x="5524500" y="1981200"/>
            <a:ext cx="595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1819"/>
                </a:solidFill>
                <a:latin typeface="Arial"/>
                <a:ea typeface="Arial"/>
                <a:cs typeface="Arial"/>
              </a:defRPr>
            </a:pPr>
            <a:r>
              <a:rPr sz="2175" b="1">
                <a:solidFill>
                  <a:srgbClr val="141819"/>
                </a:solidFill>
                <a:latin typeface="Arial"/>
                <a:ea typeface="Arial"/>
                <a:cs typeface="Arial"/>
              </a:rPr>
              <a:t>¥39/month: conditional acceptance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9094b2160124ad3"/>
          <ns0:srcRect xmlns:ns0="http://schemas.openxmlformats.org/drawingml/2006/main" l="6593" t="59779" r="29945" b="21924"/>
          <a:stretch xmlns:a="http://schemas.openxmlformats.org/drawingml/2006/main"/>
        </p:blipFill>
        <p:spPr>
          <a:xfrm xmlns:a="http://schemas.openxmlformats.org/drawingml/2006/main">
            <a:off x="5524500" y="2686050"/>
            <a:ext cx="5953125" cy="1200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60F0136-A30F-4E7C-99FC-A326272D7855}"/>
              </a:ext>
            </a:extLst>
          </p:cNvPr>
          <p:cNvSpPr>
            <a:spLocks xmlns:a="http://schemas.openxmlformats.org/drawingml/2006/main" noGrp="1"/>
          </p:cNvSpPr>
          <p:nvPr/>
        </p:nvSpPr>
        <p:spPr>
          <a:xfrm xmlns:a="http://schemas.openxmlformats.org/drawingml/2006/main">
            <a:off x="5524500" y="4019550"/>
            <a:ext cx="595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159"/>
                </a:solidFill>
                <a:latin typeface="Arial"/>
                <a:ea typeface="Arial"/>
                <a:cs typeface="Arial"/>
              </a:defRPr>
            </a:pPr>
            <a:r>
              <a:rPr sz="1350" b="0">
                <a:solidFill>
                  <a:srgbClr val="536159"/>
                </a:solidFill>
                <a:latin typeface="Arial"/>
                <a:ea typeface="Arial"/>
                <a:cs typeface="Arial"/>
              </a:rPr>
              <a:t>Selected response • Source S19</a:t>
            </a:r>
          </a:p>
        </p:txBody>
      </p:sp>
      <p:sp>
        <p:nvSpPr>
          <p:cNvPr id="13" name="">
            <a:extLst xmlns:a="http://schemas.openxmlformats.org/drawingml/2006/main">
              <a:ext uri="{FF2B5EF4-FFF2-40B4-BE49-F238E27FC236}">
                <a16:creationId xmlns:a16="http://schemas.microsoft.com/office/drawing/2014/main" id="{D1118C44-29B7-40B5-979E-7FF625F6BB14}"/>
              </a:ext>
            </a:extLst>
          </p:cNvPr>
          <p:cNvSpPr>
            <a:spLocks xmlns:a="http://schemas.openxmlformats.org/drawingml/2006/main" noGrp="1"/>
          </p:cNvSpPr>
          <p:nvPr/>
        </p:nvSpPr>
        <p:spPr>
          <a:xfrm xmlns:a="http://schemas.openxmlformats.org/drawingml/2006/main">
            <a:off x="5524500" y="4514850"/>
            <a:ext cx="595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819"/>
                </a:solidFill>
                <a:latin typeface="Arial"/>
                <a:ea typeface="Arial"/>
                <a:cs typeface="Arial"/>
              </a:defRPr>
            </a:pPr>
            <a:r>
              <a:rPr sz="2100" b="1">
                <a:solidFill>
                  <a:srgbClr val="141819"/>
                </a:solidFill>
                <a:latin typeface="Arial"/>
                <a:ea typeface="Arial"/>
                <a:cs typeface="Arial"/>
              </a:rPr>
              <a:t>Clear responsibility matters.</a:t>
            </a:r>
          </a:p>
          <a:p xmlns:a="http://schemas.openxmlformats.org/drawingml/2006/main">
            <a:pPr>
              <a:defRPr sz="2100" b="1">
                <a:solidFill>
                  <a:srgbClr val="141819"/>
                </a:solidFill>
                <a:latin typeface="Arial"/>
                <a:ea typeface="Arial"/>
                <a:cs typeface="Arial"/>
              </a:defRPr>
            </a:pPr>
            <a:r>
              <a:rPr sz="2100" b="1">
                <a:solidFill>
                  <a:srgbClr val="141819"/>
                </a:solidFill>
                <a:latin typeface="Arial"/>
                <a:ea typeface="Arial"/>
                <a:cs typeface="Arial"/>
              </a:rPr>
              <a:t>Shared updates and alerts requested.</a:t>
            </a:r>
          </a:p>
        </p:txBody>
      </p:sp>
      <p:sp>
        <p:nvSpPr>
          <p:cNvPr id="14" name="">
            <a:extLst xmlns:a="http://schemas.openxmlformats.org/drawingml/2006/main">
              <a:ext uri="{FF2B5EF4-FFF2-40B4-BE49-F238E27FC236}">
                <a16:creationId xmlns:a16="http://schemas.microsoft.com/office/drawing/2014/main" id="{119D654E-0EFF-4228-BF69-E748A48A7298}"/>
              </a:ext>
            </a:extLst>
          </p:cNvPr>
          <p:cNvSpPr>
            <a:spLocks xmlns:a="http://schemas.openxmlformats.org/drawingml/2006/main" noGrp="1"/>
          </p:cNvSpPr>
          <p:nvPr/>
        </p:nvSpPr>
        <p:spPr>
          <a:xfrm xmlns:a="http://schemas.openxmlformats.org/drawingml/2006/main">
            <a:off x="5524500" y="5553075"/>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63B36"/>
                </a:solidFill>
                <a:latin typeface="Arial"/>
                <a:ea typeface="Arial"/>
                <a:cs typeface="Arial"/>
              </a:defRPr>
            </a:pPr>
            <a:r>
              <a:rPr sz="1950" b="1">
                <a:solidFill>
                  <a:srgbClr val="A63B36"/>
                </a:solidFill>
                <a:latin typeface="Arial"/>
                <a:ea typeface="Arial"/>
                <a:cs typeface="Arial"/>
              </a:rPr>
              <a:t>No purchase or agreed pilot</a:t>
            </a:r>
          </a:p>
        </p:txBody>
      </p:sp>
      <p:sp>
        <p:nvSpPr>
          <p:cNvPr id="15" name="">
            <a:extLst xmlns:a="http://schemas.openxmlformats.org/drawingml/2006/main">
              <a:ext uri="{FF2B5EF4-FFF2-40B4-BE49-F238E27FC236}">
                <a16:creationId xmlns:a16="http://schemas.microsoft.com/office/drawing/2014/main" id="{1CD4D195-38B8-478A-8DA6-C726EB3C6C02}"/>
              </a:ext>
            </a:extLst>
          </p:cNvPr>
          <p:cNvSpPr>
            <a:spLocks xmlns:a="http://schemas.openxmlformats.org/drawingml/2006/main" noGrp="1"/>
          </p:cNvSpPr>
          <p:nvPr/>
        </p:nvSpPr>
        <p:spPr>
          <a:xfrm xmlns:a="http://schemas.openxmlformats.org/drawingml/2006/main">
            <a:off x="723900" y="602932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159"/>
                </a:solidFill>
                <a:latin typeface="Arial"/>
                <a:ea typeface="Arial"/>
                <a:cs typeface="Arial"/>
              </a:defRPr>
            </a:pPr>
            <a:r>
              <a:rPr sz="1500" b="0">
                <a:solidFill>
                  <a:srgbClr val="536159"/>
                </a:solidFill>
                <a:latin typeface="Arial"/>
                <a:ea typeface="Arial"/>
                <a:cs typeface="Arial"/>
              </a:rPr>
              <a:t>Consultations show initial reactions; the screenshots are selected examples.</a:t>
            </a:r>
          </a:p>
        </p:txBody>
      </p:sp>
    </p:spTree>
    <p:extLst>
      <p:ext uri="{BB962C8B-B14F-4D97-AF65-F5344CB8AC3E}">
        <p14:creationId xmlns:p14="http://schemas.microsoft.com/office/powerpoint/2010/main" val="1061183786"/>
      </p:ext>
    </p:extLst>
  </p:cSld>
</p:sld>
</file>

<file path=ppt/slides/slide4.xml><?xml version="1.0" encoding="utf-8"?>
<p:sld xmlns:p="http://schemas.openxmlformats.org/presentationml/2006/main">
  <p:cSld>
    <p:bg>
      <p:bgPr>
        <a:solidFill xmlns:a="http://schemas.openxmlformats.org/drawingml/2006/main">
          <a:srgbClr val="E8E5D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30E640-3CE2-433A-9145-A7CAC2419FF1}"/>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63B36"/>
                </a:solidFill>
                <a:latin typeface="Arial"/>
                <a:ea typeface="Arial"/>
                <a:cs typeface="Arial"/>
              </a:defRPr>
            </a:pPr>
            <a:r>
              <a:rPr sz="1350" b="1">
                <a:solidFill>
                  <a:srgbClr val="A63B36"/>
                </a:solidFill>
                <a:latin typeface="Arial"/>
                <a:ea typeface="Arial"/>
                <a:cs typeface="Arial"/>
              </a:rPr>
              <a:t>03 / THE PRODUCT   2:35–4:55</a:t>
            </a:r>
          </a:p>
        </p:txBody>
      </p:sp>
      <p:sp>
        <p:nvSpPr>
          <p:cNvPr id="2" name="">
            <a:extLst xmlns:a="http://schemas.openxmlformats.org/drawingml/2006/main">
              <a:ext uri="{FF2B5EF4-FFF2-40B4-BE49-F238E27FC236}">
                <a16:creationId xmlns:a16="http://schemas.microsoft.com/office/drawing/2014/main" id="{8A21FD52-512A-4A0A-8832-6E43C27ADB28}"/>
              </a:ext>
            </a:extLst>
          </p:cNvPr>
          <p:cNvSpPr>
            <a:spLocks xmlns:a="http://schemas.openxmlformats.org/drawingml/2006/main" noGrp="1"/>
          </p:cNvSpPr>
          <p:nvPr/>
        </p:nvSpPr>
        <p:spPr>
          <a:xfrm xmlns:a="http://schemas.openxmlformats.org/drawingml/2006/main">
            <a:off x="685800" y="9144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41819"/>
                </a:solidFill>
                <a:latin typeface="Arial"/>
                <a:ea typeface="Arial"/>
                <a:cs typeface="Arial"/>
              </a:defRPr>
            </a:pPr>
            <a:r>
              <a:rPr sz="3975" b="1">
                <a:solidFill>
                  <a:srgbClr val="141819"/>
                </a:solidFill>
                <a:latin typeface="Arial"/>
                <a:ea typeface="Arial"/>
                <a:cs typeface="Arial"/>
              </a:rPr>
              <a:t>A care outcome, recorded and exported</a:t>
            </a:r>
          </a:p>
        </p:txBody>
      </p:sp>
      <p:sp>
        <p:nvSpPr>
          <p:cNvPr id="3" name="">
            <a:extLst xmlns:a="http://schemas.openxmlformats.org/drawingml/2006/main">
              <a:ext uri="{FF2B5EF4-FFF2-40B4-BE49-F238E27FC236}">
                <a16:creationId xmlns:a16="http://schemas.microsoft.com/office/drawing/2014/main" id="{FF9D8FDF-5D2B-4E4C-A067-19C36C71BA49}"/>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59"/>
                </a:solidFill>
                <a:latin typeface="Arial"/>
                <a:ea typeface="Arial"/>
                <a:cs typeface="Arial"/>
              </a:defRPr>
            </a:pPr>
            <a:r>
              <a:rPr sz="1200" b="0">
                <a:solidFill>
                  <a:srgbClr val="536159"/>
                </a:solidFill>
                <a:latin typeface="Arial"/>
                <a:ea typeface="Arial"/>
                <a:cs typeface="Arial"/>
              </a:rPr>
              <a:t>GROUP6   /   04 OF 06</a:t>
            </a:r>
          </a:p>
        </p:txBody>
      </p:sp>
      <p:sp>
        <p:nvSpPr>
          <p:cNvPr id="4" name="">
            <a:extLst xmlns:a="http://schemas.openxmlformats.org/drawingml/2006/main">
              <a:ext uri="{FF2B5EF4-FFF2-40B4-BE49-F238E27FC236}">
                <a16:creationId xmlns:a16="http://schemas.microsoft.com/office/drawing/2014/main" id="{B7C841B4-7300-4DB0-A364-17B82D63F634}"/>
              </a:ext>
            </a:extLst>
          </p:cNvPr>
          <p:cNvSpPr>
            <a:spLocks xmlns:a="http://schemas.openxmlformats.org/drawingml/2006/main" noGrp="1"/>
          </p:cNvSpPr>
          <p:nvPr/>
        </p:nvSpPr>
        <p:spPr>
          <a:xfrm xmlns:a="http://schemas.openxmlformats.org/drawingml/2006/main">
            <a:off x="685800" y="209550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A63B36"/>
                </a:solidFill>
                <a:latin typeface="Arial"/>
                <a:ea typeface="Arial"/>
                <a:cs typeface="Arial"/>
              </a:defRPr>
            </a:pPr>
            <a:r>
              <a:rPr sz="8250" b="1">
                <a:solidFill>
                  <a:srgbClr val="A63B36"/>
                </a:solidFill>
                <a:latin typeface="Arial"/>
                <a:ea typeface="Arial"/>
                <a:cs typeface="Arial"/>
              </a:rPr>
              <a:t>LIVE</a:t>
            </a:r>
          </a:p>
        </p:txBody>
      </p:sp>
      <p:sp>
        <p:nvSpPr>
          <p:cNvPr id="5" name="">
            <a:extLst xmlns:a="http://schemas.openxmlformats.org/drawingml/2006/main">
              <a:ext uri="{FF2B5EF4-FFF2-40B4-BE49-F238E27FC236}">
                <a16:creationId xmlns:a16="http://schemas.microsoft.com/office/drawing/2014/main" id="{398A06B1-8EAB-477E-B53C-21410EA04988}"/>
              </a:ext>
            </a:extLst>
          </p:cNvPr>
          <p:cNvSpPr>
            <a:spLocks xmlns:a="http://schemas.openxmlformats.org/drawingml/2006/main" noGrp="1"/>
          </p:cNvSpPr>
          <p:nvPr/>
        </p:nvSpPr>
        <p:spPr>
          <a:xfrm xmlns:a="http://schemas.openxmlformats.org/drawingml/2006/main">
            <a:off x="752475" y="38290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1819"/>
                </a:solidFill>
                <a:latin typeface="Arial"/>
                <a:ea typeface="Arial"/>
                <a:cs typeface="Arial"/>
              </a:defRPr>
            </a:pPr>
            <a:r>
              <a:rPr sz="2400" b="1">
                <a:solidFill>
                  <a:srgbClr val="141819"/>
                </a:solidFill>
                <a:latin typeface="Arial"/>
                <a:ea typeface="Arial"/>
                <a:cs typeface="Arial"/>
              </a:rPr>
              <a:t>Margaret + Alex</a:t>
            </a:r>
          </a:p>
        </p:txBody>
      </p:sp>
      <p:sp>
        <p:nvSpPr>
          <p:cNvPr id="6" name="">
            <a:extLst xmlns:a="http://schemas.openxmlformats.org/drawingml/2006/main">
              <a:ext uri="{FF2B5EF4-FFF2-40B4-BE49-F238E27FC236}">
                <a16:creationId xmlns:a16="http://schemas.microsoft.com/office/drawing/2014/main" id="{EB57A3F2-9862-4E6B-8874-D83DD25B4241}"/>
              </a:ext>
            </a:extLst>
          </p:cNvPr>
          <p:cNvSpPr>
            <a:spLocks xmlns:a="http://schemas.openxmlformats.org/drawingml/2006/main" noGrp="1"/>
          </p:cNvSpPr>
          <p:nvPr/>
        </p:nvSpPr>
        <p:spPr>
          <a:xfrm xmlns:a="http://schemas.openxmlformats.org/drawingml/2006/main">
            <a:off x="752475" y="4429125"/>
            <a:ext cx="4143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159"/>
                </a:solidFill>
                <a:latin typeface="Arial"/>
                <a:ea typeface="Arial"/>
                <a:cs typeface="Arial"/>
              </a:defRPr>
            </a:pPr>
            <a:r>
              <a:rPr sz="1950" b="0">
                <a:solidFill>
                  <a:srgbClr val="536159"/>
                </a:solidFill>
                <a:latin typeface="Arial"/>
                <a:ea typeface="Arial"/>
                <a:cs typeface="Arial"/>
              </a:rPr>
              <a:t>Fictional family scenario</a:t>
            </a:r>
          </a:p>
        </p:txBody>
      </p:sp>
      <p:sp>
        <p:nvSpPr>
          <p:cNvPr id="7" name="">
            <a:extLst xmlns:a="http://schemas.openxmlformats.org/drawingml/2006/main">
              <a:ext uri="{FF2B5EF4-FFF2-40B4-BE49-F238E27FC236}">
                <a16:creationId xmlns:a16="http://schemas.microsoft.com/office/drawing/2014/main" id="{95C7F9F3-29F4-407B-9056-CF8EDFBE0507}"/>
              </a:ext>
            </a:extLst>
          </p:cNvPr>
          <p:cNvSpPr>
            <a:spLocks xmlns:a="http://schemas.openxmlformats.org/drawingml/2006/main" noGrp="1"/>
          </p:cNvSpPr>
          <p:nvPr/>
        </p:nvSpPr>
        <p:spPr>
          <a:xfrm xmlns:a="http://schemas.openxmlformats.org/drawingml/2006/main">
            <a:off x="5334000" y="2152650"/>
            <a:ext cx="6172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1819"/>
                </a:solidFill>
                <a:latin typeface="Arial"/>
                <a:ea typeface="Arial"/>
                <a:cs typeface="Arial"/>
              </a:defRPr>
            </a:pPr>
            <a:r>
              <a:rPr sz="2325" b="1">
                <a:solidFill>
                  <a:srgbClr val="141819"/>
                </a:solidFill>
                <a:latin typeface="Arial"/>
                <a:ea typeface="Arial"/>
                <a:cs typeface="Arial"/>
              </a:rPr>
              <a:t>01   Start a reminder and request help</a:t>
            </a:r>
          </a:p>
        </p:txBody>
      </p:sp>
      <p:sp>
        <p:nvSpPr>
          <p:cNvPr id="8" name="">
            <a:extLst xmlns:a="http://schemas.openxmlformats.org/drawingml/2006/main">
              <a:ext uri="{FF2B5EF4-FFF2-40B4-BE49-F238E27FC236}">
                <a16:creationId xmlns:a16="http://schemas.microsoft.com/office/drawing/2014/main" id="{03E74ED9-C5A2-47FF-B989-1257DB05F1D3}"/>
              </a:ext>
            </a:extLst>
          </p:cNvPr>
          <p:cNvSpPr>
            <a:spLocks xmlns:a="http://schemas.openxmlformats.org/drawingml/2006/main" noGrp="1"/>
          </p:cNvSpPr>
          <p:nvPr/>
        </p:nvSpPr>
        <p:spPr>
          <a:xfrm xmlns:a="http://schemas.openxmlformats.org/drawingml/2006/main">
            <a:off x="5334000" y="3286125"/>
            <a:ext cx="6172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1819"/>
                </a:solidFill>
                <a:latin typeface="Arial"/>
                <a:ea typeface="Arial"/>
                <a:cs typeface="Arial"/>
              </a:defRPr>
            </a:pPr>
            <a:r>
              <a:rPr sz="2325" b="1">
                <a:solidFill>
                  <a:srgbClr val="141819"/>
                </a:solidFill>
                <a:latin typeface="Arial"/>
                <a:ea typeface="Arial"/>
                <a:cs typeface="Arial"/>
              </a:rPr>
              <a:t>02   Save Alex’s follow-up outcome</a:t>
            </a:r>
          </a:p>
        </p:txBody>
      </p:sp>
      <p:sp>
        <p:nvSpPr>
          <p:cNvPr id="9" name="">
            <a:extLst xmlns:a="http://schemas.openxmlformats.org/drawingml/2006/main">
              <a:ext uri="{FF2B5EF4-FFF2-40B4-BE49-F238E27FC236}">
                <a16:creationId xmlns:a16="http://schemas.microsoft.com/office/drawing/2014/main" id="{91EAD2E4-EAE4-4AE8-89B9-4BAB450017F0}"/>
              </a:ext>
            </a:extLst>
          </p:cNvPr>
          <p:cNvSpPr>
            <a:spLocks xmlns:a="http://schemas.openxmlformats.org/drawingml/2006/main" noGrp="1"/>
          </p:cNvSpPr>
          <p:nvPr/>
        </p:nvSpPr>
        <p:spPr>
          <a:xfrm xmlns:a="http://schemas.openxmlformats.org/drawingml/2006/main">
            <a:off x="5334000" y="4419600"/>
            <a:ext cx="6172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1819"/>
                </a:solidFill>
                <a:latin typeface="Arial"/>
                <a:ea typeface="Arial"/>
                <a:cs typeface="Arial"/>
              </a:defRPr>
            </a:pPr>
            <a:r>
              <a:rPr sz="2325" b="1">
                <a:solidFill>
                  <a:srgbClr val="141819"/>
                </a:solidFill>
                <a:latin typeface="Arial"/>
                <a:ea typeface="Arial"/>
                <a:cs typeface="Arial"/>
              </a:rPr>
              <a:t>03   Export the same saved record</a:t>
            </a:r>
          </a:p>
        </p:txBody>
      </p:sp>
      <p:sp>
        <p:nvSpPr>
          <p:cNvPr id="10" name="">
            <a:extLst xmlns:a="http://schemas.openxmlformats.org/drawingml/2006/main">
              <a:ext uri="{FF2B5EF4-FFF2-40B4-BE49-F238E27FC236}">
                <a16:creationId xmlns:a16="http://schemas.microsoft.com/office/drawing/2014/main" id="{21662CBB-347B-4ABB-90DE-97AB32913CEB}"/>
              </a:ext>
            </a:extLst>
          </p:cNvPr>
          <p:cNvSpPr>
            <a:spLocks xmlns:a="http://schemas.openxmlformats.org/drawingml/2006/main" noGrp="1"/>
          </p:cNvSpPr>
          <p:nvPr/>
        </p:nvSpPr>
        <p:spPr>
          <a:xfrm xmlns:a="http://schemas.openxmlformats.org/drawingml/2006/main">
            <a:off x="752475" y="57150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159"/>
                </a:solidFill>
                <a:latin typeface="Arial"/>
                <a:ea typeface="Arial"/>
                <a:cs typeface="Arial"/>
              </a:defRPr>
            </a:pPr>
            <a:r>
              <a:rPr sz="1800" b="0">
                <a:solidFill>
                  <a:srgbClr val="536159"/>
                </a:solidFill>
                <a:latin typeface="Arial"/>
                <a:ea typeface="Arial"/>
                <a:cs typeface="Arial"/>
              </a:rPr>
              <a:t>Simulated Plus enabled before the talk • Actual charge ¥0 • No real notifications</a:t>
            </a:r>
          </a:p>
        </p:txBody>
      </p:sp>
    </p:spTree>
    <p:extLst>
      <p:ext uri="{BB962C8B-B14F-4D97-AF65-F5344CB8AC3E}">
        <p14:creationId xmlns:p14="http://schemas.microsoft.com/office/powerpoint/2010/main" val="172072967"/>
      </p:ext>
    </p:extLst>
  </p:cSld>
</p:sld>
</file>

<file path=ppt/slides/slide5.xml><?xml version="1.0" encoding="utf-8"?>
<p:sld xmlns:p="http://schemas.openxmlformats.org/presentationml/2006/main">
  <p:cSld>
    <p:bg>
      <p:bgPr>
        <a:solidFill xmlns:a="http://schemas.openxmlformats.org/drawingml/2006/main">
          <a:srgbClr val="E8E5D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B136C2-2092-4641-A737-F7B71300BB28}"/>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63B36"/>
                </a:solidFill>
                <a:latin typeface="Arial"/>
                <a:ea typeface="Arial"/>
                <a:cs typeface="Arial"/>
              </a:defRPr>
            </a:pPr>
            <a:r>
              <a:rPr sz="1350" b="1">
                <a:solidFill>
                  <a:srgbClr val="A63B36"/>
                </a:solidFill>
                <a:latin typeface="Arial"/>
                <a:ea typeface="Arial"/>
                <a:cs typeface="Arial"/>
              </a:rPr>
              <a:t>03 / THE PRODUCT   4:55–5:15</a:t>
            </a:r>
          </a:p>
        </p:txBody>
      </p:sp>
      <p:sp>
        <p:nvSpPr>
          <p:cNvPr id="2" name="">
            <a:extLst xmlns:a="http://schemas.openxmlformats.org/drawingml/2006/main">
              <a:ext uri="{FF2B5EF4-FFF2-40B4-BE49-F238E27FC236}">
                <a16:creationId xmlns:a16="http://schemas.microsoft.com/office/drawing/2014/main" id="{69DB06BA-F827-4C89-AE1C-C87FA23D6F80}"/>
              </a:ext>
            </a:extLst>
          </p:cNvPr>
          <p:cNvSpPr>
            <a:spLocks xmlns:a="http://schemas.openxmlformats.org/drawingml/2006/main" noGrp="1"/>
          </p:cNvSpPr>
          <p:nvPr/>
        </p:nvSpPr>
        <p:spPr>
          <a:xfrm xmlns:a="http://schemas.openxmlformats.org/drawingml/2006/main">
            <a:off x="685800" y="9144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41819"/>
                </a:solidFill>
                <a:latin typeface="Arial"/>
                <a:ea typeface="Arial"/>
                <a:cs typeface="Arial"/>
              </a:defRPr>
            </a:pPr>
            <a:r>
              <a:rPr sz="3975" b="1">
                <a:solidFill>
                  <a:srgbClr val="141819"/>
                </a:solidFill>
                <a:latin typeface="Arial"/>
                <a:ea typeface="Arial"/>
                <a:cs typeface="Arial"/>
              </a:rPr>
              <a:t>What works today</a:t>
            </a:r>
          </a:p>
        </p:txBody>
      </p:sp>
      <p:sp>
        <p:nvSpPr>
          <p:cNvPr id="3" name="">
            <a:extLst xmlns:a="http://schemas.openxmlformats.org/drawingml/2006/main">
              <a:ext uri="{FF2B5EF4-FFF2-40B4-BE49-F238E27FC236}">
                <a16:creationId xmlns:a16="http://schemas.microsoft.com/office/drawing/2014/main" id="{48C3F0A6-4A30-4064-BD8B-83925B19DB46}"/>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59"/>
                </a:solidFill>
                <a:latin typeface="Arial"/>
                <a:ea typeface="Arial"/>
                <a:cs typeface="Arial"/>
              </a:defRPr>
            </a:pPr>
            <a:r>
              <a:rPr sz="1200" b="0">
                <a:solidFill>
                  <a:srgbClr val="536159"/>
                </a:solidFill>
                <a:latin typeface="Arial"/>
                <a:ea typeface="Arial"/>
                <a:cs typeface="Arial"/>
              </a:rPr>
              <a:t>GROUP6   /   05 OF 06</a:t>
            </a:r>
          </a:p>
        </p:txBody>
      </p:sp>
      <p:sp>
        <p:nvSpPr>
          <p:cNvPr id="4" name="">
            <a:extLst xmlns:a="http://schemas.openxmlformats.org/drawingml/2006/main">
              <a:ext uri="{FF2B5EF4-FFF2-40B4-BE49-F238E27FC236}">
                <a16:creationId xmlns:a16="http://schemas.microsoft.com/office/drawing/2014/main" id="{DF3FFDFB-DC32-4687-91C6-29E68F61B4BF}"/>
              </a:ext>
            </a:extLst>
          </p:cNvPr>
          <p:cNvSpPr>
            <a:spLocks xmlns:a="http://schemas.openxmlformats.org/drawingml/2006/main" noGrp="1"/>
          </p:cNvSpPr>
          <p:nvPr/>
        </p:nvSpPr>
        <p:spPr>
          <a:xfrm xmlns:a="http://schemas.openxmlformats.org/drawingml/2006/main">
            <a:off x="723900" y="208597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41819"/>
                </a:solidFill>
                <a:latin typeface="Arial"/>
                <a:ea typeface="Arial"/>
                <a:cs typeface="Arial"/>
              </a:defRPr>
            </a:pPr>
            <a:r>
              <a:rPr sz="3525" b="1">
                <a:solidFill>
                  <a:srgbClr val="141819"/>
                </a:solidFill>
                <a:latin typeface="Arial"/>
                <a:ea typeface="Arial"/>
                <a:cs typeface="Arial"/>
              </a:rPr>
              <a:t>A named person. A saved outcome.</a:t>
            </a:r>
          </a:p>
        </p:txBody>
      </p:sp>
      <p:sp>
        <p:nvSpPr>
          <p:cNvPr id="5" name="">
            <a:extLst xmlns:a="http://schemas.openxmlformats.org/drawingml/2006/main">
              <a:ext uri="{FF2B5EF4-FFF2-40B4-BE49-F238E27FC236}">
                <a16:creationId xmlns:a16="http://schemas.microsoft.com/office/drawing/2014/main" id="{D8971915-954F-47BD-A2BB-75708BA4B62C}"/>
              </a:ext>
            </a:extLst>
          </p:cNvPr>
          <p:cNvSpPr>
            <a:spLocks xmlns:a="http://schemas.openxmlformats.org/drawingml/2006/main" noGrp="1"/>
          </p:cNvSpPr>
          <p:nvPr/>
        </p:nvSpPr>
        <p:spPr>
          <a:xfrm xmlns:a="http://schemas.openxmlformats.org/drawingml/2006/main">
            <a:off x="723900" y="32194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A63B36"/>
                </a:solidFill>
                <a:latin typeface="Arial"/>
                <a:ea typeface="Arial"/>
                <a:cs typeface="Arial"/>
              </a:defRPr>
            </a:pPr>
            <a:r>
              <a:rPr sz="2625" b="1">
                <a:solidFill>
                  <a:srgbClr val="A63B36"/>
                </a:solidFill>
                <a:latin typeface="Arial"/>
                <a:ea typeface="Arial"/>
                <a:cs typeface="Arial"/>
              </a:rPr>
              <a:t>Plus: proposed ¥39 per family / month</a:t>
            </a:r>
          </a:p>
        </p:txBody>
      </p:sp>
      <p:sp>
        <p:nvSpPr>
          <p:cNvPr id="6" name="">
            <a:extLst xmlns:a="http://schemas.openxmlformats.org/drawingml/2006/main">
              <a:ext uri="{FF2B5EF4-FFF2-40B4-BE49-F238E27FC236}">
                <a16:creationId xmlns:a16="http://schemas.microsoft.com/office/drawing/2014/main" id="{7BEF4FAD-F98C-4D5F-8DA4-925E92EA7EC0}"/>
              </a:ext>
            </a:extLst>
          </p:cNvPr>
          <p:cNvSpPr>
            <a:spLocks xmlns:a="http://schemas.openxmlformats.org/drawingml/2006/main" noGrp="1"/>
          </p:cNvSpPr>
          <p:nvPr/>
        </p:nvSpPr>
        <p:spPr>
          <a:xfrm xmlns:a="http://schemas.openxmlformats.org/drawingml/2006/main">
            <a:off x="723900" y="40290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1819"/>
                </a:solidFill>
                <a:latin typeface="Arial"/>
                <a:ea typeface="Arial"/>
                <a:cs typeface="Arial"/>
              </a:defRPr>
            </a:pPr>
            <a:r>
              <a:rPr sz="2325" b="0">
                <a:solidFill>
                  <a:srgbClr val="141819"/>
                </a:solidFill>
                <a:latin typeface="Arial"/>
                <a:ea typeface="Arial"/>
                <a:cs typeface="Arial"/>
              </a:rPr>
              <a:t>Today’s local evaluation is free.</a:t>
            </a:r>
          </a:p>
        </p:txBody>
      </p:sp>
      <p:sp>
        <p:nvSpPr>
          <p:cNvPr id="7" name="">
            <a:extLst xmlns:a="http://schemas.openxmlformats.org/drawingml/2006/main">
              <a:ext uri="{FF2B5EF4-FFF2-40B4-BE49-F238E27FC236}">
                <a16:creationId xmlns:a16="http://schemas.microsoft.com/office/drawing/2014/main" id="{B271905C-94CC-4A96-8782-B9F67CE3F76E}"/>
              </a:ext>
            </a:extLst>
          </p:cNvPr>
          <p:cNvSpPr>
            <a:spLocks xmlns:a="http://schemas.openxmlformats.org/drawingml/2006/main" noGrp="1"/>
          </p:cNvSpPr>
          <p:nvPr/>
        </p:nvSpPr>
        <p:spPr>
          <a:xfrm xmlns:a="http://schemas.openxmlformats.org/drawingml/2006/main">
            <a:off x="723900" y="49244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36159"/>
                </a:solidFill>
                <a:latin typeface="Arial"/>
                <a:ea typeface="Arial"/>
                <a:cs typeface="Arial"/>
              </a:defRPr>
            </a:pPr>
            <a:r>
              <a:rPr sz="2325" b="0">
                <a:solidFill>
                  <a:srgbClr val="536159"/>
                </a:solidFill>
                <a:latin typeface="Arial"/>
                <a:ea typeface="Arial"/>
                <a:cs typeface="Arial"/>
              </a:rPr>
              <a:t>Shared accounts, sync and remote notifications</a:t>
            </a:r>
          </a:p>
          <a:p xmlns:a="http://schemas.openxmlformats.org/drawingml/2006/main">
            <a:pPr>
              <a:defRPr sz="2325" b="0">
                <a:solidFill>
                  <a:srgbClr val="536159"/>
                </a:solidFill>
                <a:latin typeface="Arial"/>
                <a:ea typeface="Arial"/>
                <a:cs typeface="Arial"/>
              </a:defRPr>
            </a:pPr>
            <a:r>
              <a:rPr sz="2325" b="0">
                <a:solidFill>
                  <a:srgbClr val="536159"/>
                </a:solidFill>
                <a:latin typeface="Arial"/>
                <a:ea typeface="Arial"/>
                <a:cs typeface="Arial"/>
              </a:rPr>
              <a:t>remain unbuilt.</a:t>
            </a:r>
          </a:p>
        </p:txBody>
      </p:sp>
    </p:spTree>
    <p:extLst>
      <p:ext uri="{BB962C8B-B14F-4D97-AF65-F5344CB8AC3E}">
        <p14:creationId xmlns:p14="http://schemas.microsoft.com/office/powerpoint/2010/main" val="2004083843"/>
      </p:ext>
    </p:extLst>
  </p:cSld>
</p:sld>
</file>

<file path=ppt/slides/slide6.xml><?xml version="1.0" encoding="utf-8"?>
<p:sld xmlns:p="http://schemas.openxmlformats.org/presentationml/2006/main">
  <p:cSld>
    <p:bg>
      <p:bgPr>
        <a:solidFill xmlns:a="http://schemas.openxmlformats.org/drawingml/2006/main">
          <a:srgbClr val="14181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51A7CA-E51B-4885-B249-9B149F53B074}"/>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69281"/>
                </a:solidFill>
                <a:latin typeface="Arial"/>
                <a:ea typeface="Arial"/>
                <a:cs typeface="Arial"/>
              </a:defRPr>
            </a:pPr>
            <a:r>
              <a:rPr sz="1350" b="1">
                <a:solidFill>
                  <a:srgbClr val="E69281"/>
                </a:solidFill>
                <a:latin typeface="Arial"/>
                <a:ea typeface="Arial"/>
                <a:cs typeface="Arial"/>
              </a:rPr>
              <a:t>04 / NEXT STEPS   5:15–6:30</a:t>
            </a:r>
          </a:p>
        </p:txBody>
      </p:sp>
      <p:sp>
        <p:nvSpPr>
          <p:cNvPr id="2" name="">
            <a:extLst xmlns:a="http://schemas.openxmlformats.org/drawingml/2006/main">
              <a:ext uri="{FF2B5EF4-FFF2-40B4-BE49-F238E27FC236}">
                <a16:creationId xmlns:a16="http://schemas.microsoft.com/office/drawing/2014/main" id="{4D6FFC7D-DD6B-4FD8-9359-0B0F9F9BB2FA}"/>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4BC"/>
                </a:solidFill>
                <a:latin typeface="Arial"/>
                <a:ea typeface="Arial"/>
                <a:cs typeface="Arial"/>
              </a:defRPr>
            </a:pPr>
            <a:r>
              <a:rPr sz="1200" b="0">
                <a:solidFill>
                  <a:srgbClr val="BBC4BC"/>
                </a:solidFill>
                <a:latin typeface="Arial"/>
                <a:ea typeface="Arial"/>
                <a:cs typeface="Arial"/>
              </a:rPr>
              <a:t>GROUP6   /   06 OF 06</a:t>
            </a:r>
          </a:p>
        </p:txBody>
      </p:sp>
      <p:sp>
        <p:nvSpPr>
          <p:cNvPr id="3" name="">
            <a:extLst xmlns:a="http://schemas.openxmlformats.org/drawingml/2006/main">
              <a:ext uri="{FF2B5EF4-FFF2-40B4-BE49-F238E27FC236}">
                <a16:creationId xmlns:a16="http://schemas.microsoft.com/office/drawing/2014/main" id="{FDE64A9B-84E5-43CA-917E-18809EA0877D}"/>
              </a:ext>
            </a:extLst>
          </p:cNvPr>
          <p:cNvSpPr>
            <a:spLocks xmlns:a="http://schemas.openxmlformats.org/drawingml/2006/main" noGrp="1"/>
          </p:cNvSpPr>
          <p:nvPr/>
        </p:nvSpPr>
        <p:spPr>
          <a:xfrm xmlns:a="http://schemas.openxmlformats.org/drawingml/2006/main">
            <a:off x="666750" y="1123950"/>
            <a:ext cx="1038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850" b="1">
                <a:solidFill>
                  <a:srgbClr val="F6F5EF"/>
                </a:solidFill>
                <a:latin typeface="Arial"/>
                <a:ea typeface="Arial"/>
                <a:cs typeface="Arial"/>
              </a:defRPr>
            </a:pPr>
            <a:r>
              <a:rPr sz="8850" b="1">
                <a:solidFill>
                  <a:srgbClr val="F6F5EF"/>
                </a:solidFill>
                <a:latin typeface="Arial"/>
                <a:ea typeface="Arial"/>
                <a:cs typeface="Arial"/>
              </a:rPr>
              <a:t>STOP</a:t>
            </a:r>
          </a:p>
        </p:txBody>
      </p:sp>
      <p:sp>
        <p:nvSpPr>
          <p:cNvPr id="4" name="">
            <a:extLst xmlns:a="http://schemas.openxmlformats.org/drawingml/2006/main">
              <a:ext uri="{FF2B5EF4-FFF2-40B4-BE49-F238E27FC236}">
                <a16:creationId xmlns:a16="http://schemas.microsoft.com/office/drawing/2014/main" id="{4CD89F91-B38E-496B-A973-F50C16B7DA30}"/>
              </a:ext>
            </a:extLst>
          </p:cNvPr>
          <p:cNvSpPr>
            <a:spLocks xmlns:a="http://schemas.openxmlformats.org/drawingml/2006/main" noGrp="1"/>
          </p:cNvSpPr>
          <p:nvPr/>
        </p:nvSpPr>
        <p:spPr>
          <a:xfrm xmlns:a="http://schemas.openxmlformats.org/drawingml/2006/main">
            <a:off x="742950" y="28670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69281"/>
                </a:solidFill>
                <a:latin typeface="Arial"/>
                <a:ea typeface="Arial"/>
                <a:cs typeface="Arial"/>
              </a:defRPr>
            </a:pPr>
            <a:r>
              <a:rPr sz="2700" b="1">
                <a:solidFill>
                  <a:srgbClr val="E69281"/>
                </a:solidFill>
                <a:latin typeface="Arial"/>
                <a:ea typeface="Arial"/>
                <a:cs typeface="Arial"/>
              </a:rPr>
              <a:t>Team time and future resource commitments</a:t>
            </a:r>
          </a:p>
        </p:txBody>
      </p:sp>
      <p:sp>
        <p:nvSpPr>
          <p:cNvPr id="5" name="">
            <a:extLst xmlns:a="http://schemas.openxmlformats.org/drawingml/2006/main">
              <a:ext uri="{FF2B5EF4-FFF2-40B4-BE49-F238E27FC236}">
                <a16:creationId xmlns:a16="http://schemas.microsoft.com/office/drawing/2014/main" id="{885FA4B6-71C3-4FC8-9EEE-199BFDE643E1}"/>
              </a:ext>
            </a:extLst>
          </p:cNvPr>
          <p:cNvSpPr>
            <a:spLocks xmlns:a="http://schemas.openxmlformats.org/drawingml/2006/main" noGrp="1"/>
          </p:cNvSpPr>
          <p:nvPr/>
        </p:nvSpPr>
        <p:spPr>
          <a:xfrm xmlns:a="http://schemas.openxmlformats.org/drawingml/2006/main">
            <a:off x="742950" y="3667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5EF"/>
                </a:solidFill>
                <a:latin typeface="Arial"/>
                <a:ea typeface="Arial"/>
                <a:cs typeface="Arial"/>
              </a:defRPr>
            </a:pPr>
            <a:r>
              <a:rPr sz="2025" b="0">
                <a:solidFill>
                  <a:srgbClr val="F6F5EF"/>
                </a:solidFill>
                <a:latin typeface="Arial"/>
                <a:ea typeface="Arial"/>
                <a:cs typeface="Arial"/>
              </a:rPr>
              <a:t>Ongoing development, maintenance and support need sustained capacity.</a:t>
            </a:r>
          </a:p>
        </p:txBody>
      </p:sp>
      <p:sp>
        <p:nvSpPr>
          <p:cNvPr id="6" name="">
            <a:extLst xmlns:a="http://schemas.openxmlformats.org/drawingml/2006/main">
              <a:ext uri="{FF2B5EF4-FFF2-40B4-BE49-F238E27FC236}">
                <a16:creationId xmlns:a16="http://schemas.microsoft.com/office/drawing/2014/main" id="{2D51FCDF-C025-4EA6-914C-EEBA2541AEF5}"/>
              </a:ext>
            </a:extLst>
          </p:cNvPr>
          <p:cNvSpPr>
            <a:spLocks xmlns:a="http://schemas.openxmlformats.org/drawingml/2006/main" noGrp="1"/>
          </p:cNvSpPr>
          <p:nvPr/>
        </p:nvSpPr>
        <p:spPr>
          <a:xfrm xmlns:a="http://schemas.openxmlformats.org/drawingml/2006/main">
            <a:off x="752475" y="4514850"/>
            <a:ext cx="157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69281"/>
                </a:solidFill>
                <a:latin typeface="Arial"/>
                <a:ea typeface="Arial"/>
                <a:cs typeface="Arial"/>
              </a:defRPr>
            </a:pPr>
            <a:r>
              <a:rPr sz="2100" b="1">
                <a:solidFill>
                  <a:srgbClr val="E69281"/>
                </a:solidFill>
                <a:latin typeface="Arial"/>
                <a:ea typeface="Arial"/>
                <a:cs typeface="Arial"/>
              </a:rPr>
              <a:t>01–30</a:t>
            </a:r>
          </a:p>
        </p:txBody>
      </p:sp>
      <p:sp>
        <p:nvSpPr>
          <p:cNvPr id="7" name="">
            <a:extLst xmlns:a="http://schemas.openxmlformats.org/drawingml/2006/main">
              <a:ext uri="{FF2B5EF4-FFF2-40B4-BE49-F238E27FC236}">
                <a16:creationId xmlns:a16="http://schemas.microsoft.com/office/drawing/2014/main" id="{14DAB2F1-DC87-414E-8CEF-DA23AD942582}"/>
              </a:ext>
            </a:extLst>
          </p:cNvPr>
          <p:cNvSpPr>
            <a:spLocks xmlns:a="http://schemas.openxmlformats.org/drawingml/2006/main" noGrp="1"/>
          </p:cNvSpPr>
          <p:nvPr/>
        </p:nvSpPr>
        <p:spPr>
          <a:xfrm xmlns:a="http://schemas.openxmlformats.org/drawingml/2006/main">
            <a:off x="2571750" y="4514850"/>
            <a:ext cx="885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5EF"/>
                </a:solidFill>
                <a:latin typeface="Arial"/>
                <a:ea typeface="Arial"/>
                <a:cs typeface="Arial"/>
              </a:defRPr>
            </a:pPr>
            <a:r>
              <a:rPr sz="2025" b="0">
                <a:solidFill>
                  <a:srgbClr val="F6F5EF"/>
                </a:solidFill>
                <a:latin typeface="Arial"/>
                <a:ea typeface="Arial"/>
                <a:cs typeface="Arial"/>
              </a:rPr>
              <a:t>Organise feedback and archive the project.</a:t>
            </a:r>
          </a:p>
        </p:txBody>
      </p:sp>
      <p:sp>
        <p:nvSpPr>
          <p:cNvPr id="8" name="">
            <a:extLst xmlns:a="http://schemas.openxmlformats.org/drawingml/2006/main">
              <a:ext uri="{FF2B5EF4-FFF2-40B4-BE49-F238E27FC236}">
                <a16:creationId xmlns:a16="http://schemas.microsoft.com/office/drawing/2014/main" id="{D2347E50-EF66-4E9A-8A83-E4A6C39875B2}"/>
              </a:ext>
            </a:extLst>
          </p:cNvPr>
          <p:cNvSpPr>
            <a:spLocks xmlns:a="http://schemas.openxmlformats.org/drawingml/2006/main" noGrp="1"/>
          </p:cNvSpPr>
          <p:nvPr/>
        </p:nvSpPr>
        <p:spPr>
          <a:xfrm xmlns:a="http://schemas.openxmlformats.org/drawingml/2006/main">
            <a:off x="752475" y="5029200"/>
            <a:ext cx="157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69281"/>
                </a:solidFill>
                <a:latin typeface="Arial"/>
                <a:ea typeface="Arial"/>
                <a:cs typeface="Arial"/>
              </a:defRPr>
            </a:pPr>
            <a:r>
              <a:rPr sz="2100" b="1">
                <a:solidFill>
                  <a:srgbClr val="E69281"/>
                </a:solidFill>
                <a:latin typeface="Arial"/>
                <a:ea typeface="Arial"/>
                <a:cs typeface="Arial"/>
              </a:rPr>
              <a:t>31–60</a:t>
            </a:r>
          </a:p>
        </p:txBody>
      </p:sp>
      <p:sp>
        <p:nvSpPr>
          <p:cNvPr id="9" name="">
            <a:extLst xmlns:a="http://schemas.openxmlformats.org/drawingml/2006/main">
              <a:ext uri="{FF2B5EF4-FFF2-40B4-BE49-F238E27FC236}">
                <a16:creationId xmlns:a16="http://schemas.microsoft.com/office/drawing/2014/main" id="{C37EEC01-F35F-439F-B734-C590B043104D}"/>
              </a:ext>
            </a:extLst>
          </p:cNvPr>
          <p:cNvSpPr>
            <a:spLocks xmlns:a="http://schemas.openxmlformats.org/drawingml/2006/main" noGrp="1"/>
          </p:cNvSpPr>
          <p:nvPr/>
        </p:nvSpPr>
        <p:spPr>
          <a:xfrm xmlns:a="http://schemas.openxmlformats.org/drawingml/2006/main">
            <a:off x="2571750" y="5029200"/>
            <a:ext cx="885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5EF"/>
                </a:solidFill>
                <a:latin typeface="Arial"/>
                <a:ea typeface="Arial"/>
                <a:cs typeface="Arial"/>
              </a:defRPr>
            </a:pPr>
            <a:r>
              <a:rPr sz="2025" b="0">
                <a:solidFill>
                  <a:srgbClr val="F6F5EF"/>
                </a:solidFill>
                <a:latin typeface="Arial"/>
                <a:ea typeface="Arial"/>
                <a:cs typeface="Arial"/>
              </a:rPr>
              <a:t>Complete our review and record unresolved questions.</a:t>
            </a:r>
          </a:p>
        </p:txBody>
      </p:sp>
      <p:sp>
        <p:nvSpPr>
          <p:cNvPr id="10" name="">
            <a:extLst xmlns:a="http://schemas.openxmlformats.org/drawingml/2006/main">
              <a:ext uri="{FF2B5EF4-FFF2-40B4-BE49-F238E27FC236}">
                <a16:creationId xmlns:a16="http://schemas.microsoft.com/office/drawing/2014/main" id="{344F23D3-D84B-4ACE-86C8-BD1F6ECA27E2}"/>
              </a:ext>
            </a:extLst>
          </p:cNvPr>
          <p:cNvSpPr>
            <a:spLocks xmlns:a="http://schemas.openxmlformats.org/drawingml/2006/main" noGrp="1"/>
          </p:cNvSpPr>
          <p:nvPr/>
        </p:nvSpPr>
        <p:spPr>
          <a:xfrm xmlns:a="http://schemas.openxmlformats.org/drawingml/2006/main">
            <a:off x="752475" y="5543550"/>
            <a:ext cx="157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69281"/>
                </a:solidFill>
                <a:latin typeface="Arial"/>
                <a:ea typeface="Arial"/>
                <a:cs typeface="Arial"/>
              </a:defRPr>
            </a:pPr>
            <a:r>
              <a:rPr sz="2100" b="1">
                <a:solidFill>
                  <a:srgbClr val="E69281"/>
                </a:solidFill>
                <a:latin typeface="Arial"/>
                <a:ea typeface="Arial"/>
                <a:cs typeface="Arial"/>
              </a:rPr>
              <a:t>61–90</a:t>
            </a:r>
          </a:p>
        </p:txBody>
      </p:sp>
      <p:sp>
        <p:nvSpPr>
          <p:cNvPr id="11" name="">
            <a:extLst xmlns:a="http://schemas.openxmlformats.org/drawingml/2006/main">
              <a:ext uri="{FF2B5EF4-FFF2-40B4-BE49-F238E27FC236}">
                <a16:creationId xmlns:a16="http://schemas.microsoft.com/office/drawing/2014/main" id="{10EBF562-B3AC-4D3B-A9CA-1B741216EB82}"/>
              </a:ext>
            </a:extLst>
          </p:cNvPr>
          <p:cNvSpPr>
            <a:spLocks xmlns:a="http://schemas.openxmlformats.org/drawingml/2006/main" noGrp="1"/>
          </p:cNvSpPr>
          <p:nvPr/>
        </p:nvSpPr>
        <p:spPr>
          <a:xfrm xmlns:a="http://schemas.openxmlformats.org/drawingml/2006/main">
            <a:off x="2571750" y="5543550"/>
            <a:ext cx="885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5EF"/>
                </a:solidFill>
                <a:latin typeface="Arial"/>
                <a:ea typeface="Arial"/>
                <a:cs typeface="Arial"/>
              </a:defRPr>
            </a:pPr>
            <a:r>
              <a:rPr sz="2025" b="0">
                <a:solidFill>
                  <a:srgbClr val="F6F5EF"/>
                </a:solidFill>
                <a:latin typeface="Arial"/>
                <a:ea typeface="Arial"/>
                <a:cs typeface="Arial"/>
              </a:rPr>
              <a:t>Remain stopped; no development or launch promises.</a:t>
            </a:r>
          </a:p>
        </p:txBody>
      </p:sp>
      <p:sp>
        <p:nvSpPr>
          <p:cNvPr id="12" name="">
            <a:extLst xmlns:a="http://schemas.openxmlformats.org/drawingml/2006/main">
              <a:ext uri="{FF2B5EF4-FFF2-40B4-BE49-F238E27FC236}">
                <a16:creationId xmlns:a16="http://schemas.microsoft.com/office/drawing/2014/main" id="{FF218C46-F0CE-4EB0-80EA-70AFD6121336}"/>
              </a:ext>
            </a:extLst>
          </p:cNvPr>
          <p:cNvSpPr>
            <a:spLocks xmlns:a="http://schemas.openxmlformats.org/drawingml/2006/main" noGrp="1"/>
          </p:cNvSpPr>
          <p:nvPr/>
        </p:nvSpPr>
        <p:spPr>
          <a:xfrm xmlns:a="http://schemas.openxmlformats.org/drawingml/2006/main">
            <a:off x="752475" y="61055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4BC"/>
                </a:solidFill>
                <a:latin typeface="Arial"/>
                <a:ea typeface="Arial"/>
                <a:cs typeface="Arial"/>
              </a:defRPr>
            </a:pPr>
            <a:r>
              <a:rPr sz="1500" b="0">
                <a:solidFill>
                  <a:srgbClr val="BBC4BC"/>
                </a:solidFill>
                <a:latin typeface="Arial"/>
                <a:ea typeface="Arial"/>
                <a:cs typeface="Arial"/>
              </a:rPr>
              <a:t>Proposed closure plan starts after the course • Thank you</a:t>
            </a:r>
          </a:p>
        </p:txBody>
      </p:sp>
    </p:spTree>
    <p:extLst>
      <p:ext uri="{BB962C8B-B14F-4D97-AF65-F5344CB8AC3E}">
        <p14:creationId xmlns:p14="http://schemas.microsoft.com/office/powerpoint/2010/main" val="808847257"/>
      </p:ext>
    </p:extLst>
  </p:cSld>
</p:sld>
</file>

<file path=ppt/slides/slide7.xml><?xml version="1.0" encoding="utf-8"?>
<p:sld xmlns:p="http://schemas.openxmlformats.org/presentationml/2006/main" show="0">
  <p:cSld>
    <p:bg>
      <p:bgPr>
        <a:solidFill xmlns:a="http://schemas.openxmlformats.org/drawingml/2006/main">
          <a:srgbClr val="E8E5D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B95709-11DF-49F5-AC77-67FC796C917C}"/>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63B36"/>
                </a:solidFill>
                <a:latin typeface="Arial"/>
                <a:ea typeface="Arial"/>
                <a:cs typeface="Arial"/>
              </a:defRPr>
            </a:pPr>
            <a:r>
              <a:rPr sz="1350" b="1">
                <a:solidFill>
                  <a:srgbClr val="A63B36"/>
                </a:solidFill>
                <a:latin typeface="Arial"/>
                <a:ea typeface="Arial"/>
                <a:cs typeface="Arial"/>
              </a:rPr>
              <a:t>Q&amp;A ONLY / PRICING AND CURRENT LIMITS</a:t>
            </a:r>
          </a:p>
        </p:txBody>
      </p:sp>
      <p:sp>
        <p:nvSpPr>
          <p:cNvPr id="2" name="">
            <a:extLst xmlns:a="http://schemas.openxmlformats.org/drawingml/2006/main">
              <a:ext uri="{FF2B5EF4-FFF2-40B4-BE49-F238E27FC236}">
                <a16:creationId xmlns:a16="http://schemas.microsoft.com/office/drawing/2014/main" id="{8D39F62B-0930-4033-AE9D-9180298219F3}"/>
              </a:ext>
            </a:extLst>
          </p:cNvPr>
          <p:cNvSpPr>
            <a:spLocks xmlns:a="http://schemas.openxmlformats.org/drawingml/2006/main" noGrp="1"/>
          </p:cNvSpPr>
          <p:nvPr/>
        </p:nvSpPr>
        <p:spPr>
          <a:xfrm xmlns:a="http://schemas.openxmlformats.org/drawingml/2006/main">
            <a:off x="685800" y="9144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41819"/>
                </a:solidFill>
                <a:latin typeface="Arial"/>
                <a:ea typeface="Arial"/>
                <a:cs typeface="Arial"/>
              </a:defRPr>
            </a:pPr>
            <a:r>
              <a:rPr sz="3975" b="1">
                <a:solidFill>
                  <a:srgbClr val="141819"/>
                </a:solidFill>
                <a:latin typeface="Arial"/>
                <a:ea typeface="Arial"/>
                <a:cs typeface="Arial"/>
              </a:rPr>
              <a:t>Proposed family plans</a:t>
            </a:r>
          </a:p>
        </p:txBody>
      </p:sp>
      <p:sp>
        <p:nvSpPr>
          <p:cNvPr id="3" name="">
            <a:extLst xmlns:a="http://schemas.openxmlformats.org/drawingml/2006/main">
              <a:ext uri="{FF2B5EF4-FFF2-40B4-BE49-F238E27FC236}">
                <a16:creationId xmlns:a16="http://schemas.microsoft.com/office/drawing/2014/main" id="{BE7CBE7A-D727-4AED-AA82-07DD2FBBBA65}"/>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59"/>
                </a:solidFill>
                <a:latin typeface="Arial"/>
                <a:ea typeface="Arial"/>
                <a:cs typeface="Arial"/>
              </a:defRPr>
            </a:pPr>
            <a:r>
              <a:rPr sz="1200" b="0">
                <a:solidFill>
                  <a:srgbClr val="536159"/>
                </a:solidFill>
                <a:latin typeface="Arial"/>
                <a:ea typeface="Arial"/>
                <a:cs typeface="Arial"/>
              </a:rPr>
              <a:t>GROUP6   /   Q&amp;A 1 OF 02</a:t>
            </a:r>
          </a:p>
        </p:txBody>
      </p:sp>
      <p:graphicFrame>
        <p:nvGraphicFramePr>
          <p:cNvPr id="10" name=""/>
          <p:cNvGraphicFramePr/>
          <p:nvPr/>
        </p:nvGraphicFramePr>
        <p:xfrm>
          <a:off xmlns:a="http://schemas.openxmlformats.org/drawingml/2006/main" x="685800" y="2009775"/>
          <a:ext xmlns:a="http://schemas.openxmlformats.org/drawingml/2006/main" cx="10820400" cy="2914650"/>
        </p:xfrm>
        <a:graphic xmlns:a="http://schemas.openxmlformats.org/drawingml/2006/main">
          <a:graphicData uri="http://schemas.openxmlformats.org/drawingml/2006/table">
            <a:tbl>
              <a:tblPr/>
              <a:tblGrid>
                <a:gridCol w="4343400"/>
                <a:gridCol w="3048000"/>
                <a:gridCol w="3429000"/>
              </a:tblGrid>
              <a:tr h="582930">
                <a:tc>
                  <a:txBody>
                    <a:bodyPr/>
                    <a:lstStyle/>
                    <a:p>
                      <a:r>
                        <a:rPr sz="1875" b="1">
                          <a:solidFill>
                            <a:srgbClr val="F6F5EF"/>
                          </a:solidFill>
                          <a:latin typeface="Arial"/>
                          <a:ea typeface="Arial"/>
                          <a:cs typeface="Arial"/>
                        </a:rPr>
                        <a:t>Plan</a:t>
                      </a:r>
                    </a:p>
                  </a:txBody>
                  <a:tcPr marL="91440" marR="91440" marT="45720" marB="45720">
                    <a:solidFill>
                      <a:srgbClr val="141819"/>
                    </a:solidFill>
                  </a:tcPr>
                </a:tc>
                <a:tc>
                  <a:txBody>
                    <a:bodyPr/>
                    <a:lstStyle/>
                    <a:p>
                      <a:r>
                        <a:rPr sz="1875" b="1">
                          <a:solidFill>
                            <a:srgbClr val="F6F5EF"/>
                          </a:solidFill>
                          <a:latin typeface="Arial"/>
                          <a:ea typeface="Arial"/>
                          <a:cs typeface="Arial"/>
                        </a:rPr>
                        <a:t>Monthly / RMB</a:t>
                      </a:r>
                    </a:p>
                  </a:txBody>
                  <a:tcPr marL="91440" marR="91440" marT="45720" marB="45720">
                    <a:solidFill>
                      <a:srgbClr val="141819"/>
                    </a:solidFill>
                  </a:tcPr>
                </a:tc>
                <a:tc>
                  <a:txBody>
                    <a:bodyPr/>
                    <a:lstStyle/>
                    <a:p>
                      <a:r>
                        <a:rPr sz="1875" b="1">
                          <a:solidFill>
                            <a:srgbClr val="F6F5EF"/>
                          </a:solidFill>
                          <a:latin typeface="Arial"/>
                          <a:ea typeface="Arial"/>
                          <a:cs typeface="Arial"/>
                        </a:rPr>
                        <a:t>Annual total / RMB</a:t>
                      </a:r>
                    </a:p>
                  </a:txBody>
                  <a:tcPr marL="91440" marR="91440" marT="45720" marB="45720">
                    <a:solidFill>
                      <a:srgbClr val="141819"/>
                    </a:solidFill>
                  </a:tcPr>
                </a:tc>
              </a:tr>
              <a:tr h="582930">
                <a:tc>
                  <a:txBody>
                    <a:bodyPr/>
                    <a:lstStyle/>
                    <a:p>
                      <a:r>
                        <a:rPr sz="2175" b="1">
                          <a:solidFill>
                            <a:srgbClr val="141819"/>
                          </a:solidFill>
                          <a:latin typeface="Arial"/>
                          <a:ea typeface="Arial"/>
                          <a:cs typeface="Arial"/>
                        </a:rPr>
                        <a:t>Free</a:t>
                      </a:r>
                    </a:p>
                  </a:txBody>
                  <a:tcPr marL="91440" marR="91440" marT="45720" marB="45720">
                    <a:solidFill>
                      <a:srgbClr val="F6F5EF"/>
                    </a:solidFill>
                  </a:tcPr>
                </a:tc>
                <a:tc>
                  <a:txBody>
                    <a:bodyPr/>
                    <a:lstStyle/>
                    <a:p>
                      <a:r>
                        <a:rPr sz="2175" b="0">
                          <a:solidFill>
                            <a:srgbClr val="141819"/>
                          </a:solidFill>
                          <a:latin typeface="Arial"/>
                          <a:ea typeface="Arial"/>
                          <a:cs typeface="Arial"/>
                        </a:rPr>
                        <a:t>0</a:t>
                      </a:r>
                    </a:p>
                  </a:txBody>
                  <a:tcPr marL="91440" marR="91440" marT="45720" marB="45720">
                    <a:solidFill>
                      <a:srgbClr val="F6F5EF"/>
                    </a:solidFill>
                  </a:tcPr>
                </a:tc>
                <a:tc>
                  <a:txBody>
                    <a:bodyPr/>
                    <a:lstStyle/>
                    <a:p>
                      <a:r>
                        <a:rPr sz="2175" b="0">
                          <a:solidFill>
                            <a:srgbClr val="141819"/>
                          </a:solidFill>
                          <a:latin typeface="Arial"/>
                          <a:ea typeface="Arial"/>
                          <a:cs typeface="Arial"/>
                        </a:rPr>
                        <a:t>0</a:t>
                      </a:r>
                    </a:p>
                  </a:txBody>
                  <a:tcPr marL="91440" marR="91440" marT="45720" marB="45720">
                    <a:solidFill>
                      <a:srgbClr val="F6F5EF"/>
                    </a:solidFill>
                  </a:tcPr>
                </a:tc>
              </a:tr>
              <a:tr h="582930">
                <a:tc>
                  <a:txBody>
                    <a:bodyPr/>
                    <a:lstStyle/>
                    <a:p>
                      <a:r>
                        <a:rPr sz="2175" b="1">
                          <a:solidFill>
                            <a:srgbClr val="141819"/>
                          </a:solidFill>
                          <a:latin typeface="Arial"/>
                          <a:ea typeface="Arial"/>
                          <a:cs typeface="Arial"/>
                        </a:rPr>
                        <a:t>Plus</a:t>
                      </a:r>
                    </a:p>
                  </a:txBody>
                  <a:tcPr marL="91440" marR="91440" marT="45720" marB="45720">
                    <a:solidFill>
                      <a:srgbClr val="E8E5DC"/>
                    </a:solidFill>
                  </a:tcPr>
                </a:tc>
                <a:tc>
                  <a:txBody>
                    <a:bodyPr/>
                    <a:lstStyle/>
                    <a:p>
                      <a:r>
                        <a:rPr sz="2175" b="0">
                          <a:solidFill>
                            <a:srgbClr val="141819"/>
                          </a:solidFill>
                          <a:latin typeface="Arial"/>
                          <a:ea typeface="Arial"/>
                          <a:cs typeface="Arial"/>
                        </a:rPr>
                        <a:t>39</a:t>
                      </a:r>
                    </a:p>
                  </a:txBody>
                  <a:tcPr marL="91440" marR="91440" marT="45720" marB="45720">
                    <a:solidFill>
                      <a:srgbClr val="E8E5DC"/>
                    </a:solidFill>
                  </a:tcPr>
                </a:tc>
                <a:tc>
                  <a:txBody>
                    <a:bodyPr/>
                    <a:lstStyle/>
                    <a:p>
                      <a:r>
                        <a:rPr sz="2175" b="0">
                          <a:solidFill>
                            <a:srgbClr val="141819"/>
                          </a:solidFill>
                          <a:latin typeface="Arial"/>
                          <a:ea typeface="Arial"/>
                          <a:cs typeface="Arial"/>
                        </a:rPr>
                        <a:t>390</a:t>
                      </a:r>
                    </a:p>
                  </a:txBody>
                  <a:tcPr marL="91440" marR="91440" marT="45720" marB="45720">
                    <a:solidFill>
                      <a:srgbClr val="E8E5DC"/>
                    </a:solidFill>
                  </a:tcPr>
                </a:tc>
              </a:tr>
              <a:tr h="582930">
                <a:tc>
                  <a:txBody>
                    <a:bodyPr/>
                    <a:lstStyle/>
                    <a:p>
                      <a:r>
                        <a:rPr sz="2175" b="1">
                          <a:solidFill>
                            <a:srgbClr val="141819"/>
                          </a:solidFill>
                          <a:latin typeface="Arial"/>
                          <a:ea typeface="Arial"/>
                          <a:cs typeface="Arial"/>
                        </a:rPr>
                        <a:t>Pro 5x</a:t>
                      </a:r>
                    </a:p>
                  </a:txBody>
                  <a:tcPr marL="91440" marR="91440" marT="45720" marB="45720">
                    <a:solidFill>
                      <a:srgbClr val="F6F5EF"/>
                    </a:solidFill>
                  </a:tcPr>
                </a:tc>
                <a:tc>
                  <a:txBody>
                    <a:bodyPr/>
                    <a:lstStyle/>
                    <a:p>
                      <a:r>
                        <a:rPr sz="2175" b="0">
                          <a:solidFill>
                            <a:srgbClr val="141819"/>
                          </a:solidFill>
                          <a:latin typeface="Arial"/>
                          <a:ea typeface="Arial"/>
                          <a:cs typeface="Arial"/>
                        </a:rPr>
                        <a:t>79</a:t>
                      </a:r>
                    </a:p>
                  </a:txBody>
                  <a:tcPr marL="91440" marR="91440" marT="45720" marB="45720">
                    <a:solidFill>
                      <a:srgbClr val="F6F5EF"/>
                    </a:solidFill>
                  </a:tcPr>
                </a:tc>
                <a:tc>
                  <a:txBody>
                    <a:bodyPr/>
                    <a:lstStyle/>
                    <a:p>
                      <a:r>
                        <a:rPr sz="2175" b="0">
                          <a:solidFill>
                            <a:srgbClr val="141819"/>
                          </a:solidFill>
                          <a:latin typeface="Arial"/>
                          <a:ea typeface="Arial"/>
                          <a:cs typeface="Arial"/>
                        </a:rPr>
                        <a:t>790</a:t>
                      </a:r>
                    </a:p>
                  </a:txBody>
                  <a:tcPr marL="91440" marR="91440" marT="45720" marB="45720">
                    <a:solidFill>
                      <a:srgbClr val="F6F5EF"/>
                    </a:solidFill>
                  </a:tcPr>
                </a:tc>
              </a:tr>
              <a:tr h="582930">
                <a:tc>
                  <a:txBody>
                    <a:bodyPr/>
                    <a:lstStyle/>
                    <a:p>
                      <a:r>
                        <a:rPr sz="2175" b="1">
                          <a:solidFill>
                            <a:srgbClr val="141819"/>
                          </a:solidFill>
                          <a:latin typeface="Arial"/>
                          <a:ea typeface="Arial"/>
                          <a:cs typeface="Arial"/>
                        </a:rPr>
                        <a:t>Pro 20x</a:t>
                      </a:r>
                    </a:p>
                  </a:txBody>
                  <a:tcPr marL="91440" marR="91440" marT="45720" marB="45720">
                    <a:solidFill>
                      <a:srgbClr val="E8E5DC"/>
                    </a:solidFill>
                  </a:tcPr>
                </a:tc>
                <a:tc>
                  <a:txBody>
                    <a:bodyPr/>
                    <a:lstStyle/>
                    <a:p>
                      <a:r>
                        <a:rPr sz="2175" b="0">
                          <a:solidFill>
                            <a:srgbClr val="141819"/>
                          </a:solidFill>
                          <a:latin typeface="Arial"/>
                          <a:ea typeface="Arial"/>
                          <a:cs typeface="Arial"/>
                        </a:rPr>
                        <a:t>99</a:t>
                      </a:r>
                    </a:p>
                  </a:txBody>
                  <a:tcPr marL="91440" marR="91440" marT="45720" marB="45720">
                    <a:solidFill>
                      <a:srgbClr val="E8E5DC"/>
                    </a:solidFill>
                  </a:tcPr>
                </a:tc>
                <a:tc>
                  <a:txBody>
                    <a:bodyPr/>
                    <a:lstStyle/>
                    <a:p>
                      <a:r>
                        <a:rPr sz="2175" b="0">
                          <a:solidFill>
                            <a:srgbClr val="141819"/>
                          </a:solidFill>
                          <a:latin typeface="Arial"/>
                          <a:ea typeface="Arial"/>
                          <a:cs typeface="Arial"/>
                        </a:rPr>
                        <a:t>990</a:t>
                      </a:r>
                    </a:p>
                  </a:txBody>
                  <a:tcPr marL="91440" marR="91440" marT="45720" marB="45720">
                    <a:solidFill>
                      <a:srgbClr val="E8E5DC"/>
                    </a:solidFill>
                  </a:tcPr>
                </a:tc>
              </a:tr>
            </a:tbl>
          </a:graphicData>
        </a:graphic>
      </p:graphicFrame>
      <p:sp>
        <p:nvSpPr>
          <p:cNvPr id="5" name="">
            <a:extLst xmlns:a="http://schemas.openxmlformats.org/drawingml/2006/main">
              <a:ext uri="{FF2B5EF4-FFF2-40B4-BE49-F238E27FC236}">
                <a16:creationId xmlns:a16="http://schemas.microsoft.com/office/drawing/2014/main" id="{52789534-56CB-4480-8344-A3A25506DAC5}"/>
              </a:ext>
            </a:extLst>
          </p:cNvPr>
          <p:cNvSpPr>
            <a:spLocks xmlns:a="http://schemas.openxmlformats.org/drawingml/2006/main" noGrp="1"/>
          </p:cNvSpPr>
          <p:nvPr/>
        </p:nvSpPr>
        <p:spPr>
          <a:xfrm xmlns:a="http://schemas.openxmlformats.org/drawingml/2006/main">
            <a:off x="723900" y="52197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819"/>
                </a:solidFill>
                <a:latin typeface="Arial"/>
                <a:ea typeface="Arial"/>
                <a:cs typeface="Arial"/>
              </a:defRPr>
            </a:pPr>
            <a:r>
              <a:rPr sz="1875" b="0">
                <a:solidFill>
                  <a:srgbClr val="141819"/>
                </a:solidFill>
                <a:latin typeface="Arial"/>
                <a:ea typeface="Arial"/>
                <a:cs typeface="Arial"/>
              </a:rPr>
              <a:t>Pro adds rota, backups and handovers. 20x adds allowance, not care features.</a:t>
            </a:r>
          </a:p>
        </p:txBody>
      </p:sp>
      <p:sp>
        <p:nvSpPr>
          <p:cNvPr id="6" name="">
            <a:extLst xmlns:a="http://schemas.openxmlformats.org/drawingml/2006/main">
              <a:ext uri="{FF2B5EF4-FFF2-40B4-BE49-F238E27FC236}">
                <a16:creationId xmlns:a16="http://schemas.microsoft.com/office/drawing/2014/main" id="{0BECA1DD-B268-48C4-BA79-D07805F0699B}"/>
              </a:ext>
            </a:extLst>
          </p:cNvPr>
          <p:cNvSpPr>
            <a:spLocks xmlns:a="http://schemas.openxmlformats.org/drawingml/2006/main" noGrp="1"/>
          </p:cNvSpPr>
          <p:nvPr/>
        </p:nvSpPr>
        <p:spPr>
          <a:xfrm xmlns:a="http://schemas.openxmlformats.org/drawingml/2006/main">
            <a:off x="723900" y="5924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159"/>
                </a:solidFill>
                <a:latin typeface="Arial"/>
                <a:ea typeface="Arial"/>
                <a:cs typeface="Arial"/>
              </a:defRPr>
            </a:pPr>
            <a:r>
              <a:rPr sz="1575" b="0">
                <a:solidFill>
                  <a:srgbClr val="536159"/>
                </a:solidFill>
                <a:latin typeface="Arial"/>
                <a:ea typeface="Arial"/>
                <a:cs typeface="Arial"/>
              </a:rPr>
              <a:t>Annual totals upfront • Local evaluation ¥0 • Costs and paid demand unvalidated</a:t>
            </a:r>
          </a:p>
        </p:txBody>
      </p:sp>
    </p:spTree>
    <p:extLst>
      <p:ext uri="{BB962C8B-B14F-4D97-AF65-F5344CB8AC3E}">
        <p14:creationId xmlns:p14="http://schemas.microsoft.com/office/powerpoint/2010/main" val="1025330932"/>
      </p:ext>
    </p:extLst>
  </p:cSld>
</p:sld>
</file>

<file path=ppt/slides/slide8.xml><?xml version="1.0" encoding="utf-8"?>
<p:sld xmlns:p="http://schemas.openxmlformats.org/presentationml/2006/main" show="0">
  <p:cSld>
    <p:bg>
      <p:bgPr>
        <a:solidFill xmlns:a="http://schemas.openxmlformats.org/drawingml/2006/main">
          <a:srgbClr val="E8E5D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FA8C57-1180-4EB6-8903-94F2D6605222}"/>
              </a:ext>
            </a:extLst>
          </p:cNvPr>
          <p:cNvSpPr>
            <a:spLocks xmlns:a="http://schemas.openxmlformats.org/drawingml/2006/main" noGrp="1"/>
          </p:cNvSpPr>
          <p:nvPr/>
        </p:nvSpPr>
        <p:spPr>
          <a:xfrm xmlns:a="http://schemas.openxmlformats.org/drawingml/2006/main">
            <a:off x="685800" y="3238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63B36"/>
                </a:solidFill>
                <a:latin typeface="Arial"/>
                <a:ea typeface="Arial"/>
                <a:cs typeface="Arial"/>
              </a:defRPr>
            </a:pPr>
            <a:r>
              <a:rPr sz="1350" b="1">
                <a:solidFill>
                  <a:srgbClr val="A63B36"/>
                </a:solidFill>
                <a:latin typeface="Arial"/>
                <a:ea typeface="Arial"/>
                <a:cs typeface="Arial"/>
              </a:rPr>
              <a:t>Q&amp;A ONLY / WHAT THE EVIDENCE SUPPORTS</a:t>
            </a:r>
          </a:p>
        </p:txBody>
      </p:sp>
      <p:sp>
        <p:nvSpPr>
          <p:cNvPr id="2" name="">
            <a:extLst xmlns:a="http://schemas.openxmlformats.org/drawingml/2006/main">
              <a:ext uri="{FF2B5EF4-FFF2-40B4-BE49-F238E27FC236}">
                <a16:creationId xmlns:a16="http://schemas.microsoft.com/office/drawing/2014/main" id="{341F47AD-C8D7-4E67-A950-430AA6FC7E8C}"/>
              </a:ext>
            </a:extLst>
          </p:cNvPr>
          <p:cNvSpPr>
            <a:spLocks xmlns:a="http://schemas.openxmlformats.org/drawingml/2006/main" noGrp="1"/>
          </p:cNvSpPr>
          <p:nvPr/>
        </p:nvSpPr>
        <p:spPr>
          <a:xfrm xmlns:a="http://schemas.openxmlformats.org/drawingml/2006/main">
            <a:off x="685800" y="9144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41819"/>
                </a:solidFill>
                <a:latin typeface="Arial"/>
                <a:ea typeface="Arial"/>
                <a:cs typeface="Arial"/>
              </a:defRPr>
            </a:pPr>
            <a:r>
              <a:rPr sz="3975" b="1">
                <a:solidFill>
                  <a:srgbClr val="141819"/>
                </a:solidFill>
                <a:latin typeface="Arial"/>
                <a:ea typeface="Arial"/>
                <a:cs typeface="Arial"/>
              </a:rPr>
              <a:t>Evidence and boundaries</a:t>
            </a:r>
          </a:p>
        </p:txBody>
      </p:sp>
      <p:sp>
        <p:nvSpPr>
          <p:cNvPr id="3" name="">
            <a:extLst xmlns:a="http://schemas.openxmlformats.org/drawingml/2006/main">
              <a:ext uri="{FF2B5EF4-FFF2-40B4-BE49-F238E27FC236}">
                <a16:creationId xmlns:a16="http://schemas.microsoft.com/office/drawing/2014/main" id="{ED624364-98DA-44D3-9108-342F313CA2A1}"/>
              </a:ext>
            </a:extLst>
          </p:cNvPr>
          <p:cNvSpPr>
            <a:spLocks xmlns:a="http://schemas.openxmlformats.org/drawingml/2006/main" noGrp="1"/>
          </p:cNvSpPr>
          <p:nvPr/>
        </p:nvSpPr>
        <p:spPr>
          <a:xfrm xmlns:a="http://schemas.openxmlformats.org/drawingml/2006/main">
            <a:off x="685800" y="64198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159"/>
                </a:solidFill>
                <a:latin typeface="Arial"/>
                <a:ea typeface="Arial"/>
                <a:cs typeface="Arial"/>
              </a:defRPr>
            </a:pPr>
            <a:r>
              <a:rPr sz="1200" b="0">
                <a:solidFill>
                  <a:srgbClr val="536159"/>
                </a:solidFill>
                <a:latin typeface="Arial"/>
                <a:ea typeface="Arial"/>
                <a:cs typeface="Arial"/>
              </a:rPr>
              <a:t>GROUP6   /   Q&amp;A 2 OF 02</a:t>
            </a:r>
          </a:p>
        </p:txBody>
      </p:sp>
      <p:sp>
        <p:nvSpPr>
          <p:cNvPr id="4" name="">
            <a:extLst xmlns:a="http://schemas.openxmlformats.org/drawingml/2006/main">
              <a:ext uri="{FF2B5EF4-FFF2-40B4-BE49-F238E27FC236}">
                <a16:creationId xmlns:a16="http://schemas.microsoft.com/office/drawing/2014/main" id="{ED6577F2-998F-4CEA-984C-0F7EA0328916}"/>
              </a:ext>
            </a:extLst>
          </p:cNvPr>
          <p:cNvSpPr>
            <a:spLocks xmlns:a="http://schemas.openxmlformats.org/drawingml/2006/main" noGrp="1"/>
          </p:cNvSpPr>
          <p:nvPr/>
        </p:nvSpPr>
        <p:spPr>
          <a:xfrm xmlns:a="http://schemas.openxmlformats.org/drawingml/2006/main">
            <a:off x="723900" y="21336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63B36"/>
                </a:solidFill>
                <a:latin typeface="Arial"/>
                <a:ea typeface="Arial"/>
                <a:cs typeface="Arial"/>
              </a:defRPr>
            </a:pPr>
            <a:r>
              <a:rPr sz="2400" b="1">
                <a:solidFill>
                  <a:srgbClr val="A63B36"/>
                </a:solidFill>
                <a:latin typeface="Arial"/>
                <a:ea typeface="Arial"/>
                <a:cs typeface="Arial"/>
              </a:rPr>
              <a:t>Consultations</a:t>
            </a:r>
          </a:p>
        </p:txBody>
      </p:sp>
      <p:sp>
        <p:nvSpPr>
          <p:cNvPr id="5" name="">
            <a:extLst xmlns:a="http://schemas.openxmlformats.org/drawingml/2006/main">
              <a:ext uri="{FF2B5EF4-FFF2-40B4-BE49-F238E27FC236}">
                <a16:creationId xmlns:a16="http://schemas.microsoft.com/office/drawing/2014/main" id="{0B1C4492-F0FB-43A4-9403-DDB52CD19215}"/>
              </a:ext>
            </a:extLst>
          </p:cNvPr>
          <p:cNvSpPr>
            <a:spLocks xmlns:a="http://schemas.openxmlformats.org/drawingml/2006/main" noGrp="1"/>
          </p:cNvSpPr>
          <p:nvPr/>
        </p:nvSpPr>
        <p:spPr>
          <a:xfrm xmlns:a="http://schemas.openxmlformats.org/drawingml/2006/main">
            <a:off x="4048125" y="2114550"/>
            <a:ext cx="742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1819"/>
                </a:solidFill>
                <a:latin typeface="Arial"/>
                <a:ea typeface="Arial"/>
                <a:cs typeface="Arial"/>
              </a:defRPr>
            </a:pPr>
            <a:r>
              <a:rPr sz="2100" b="0">
                <a:solidFill>
                  <a:srgbClr val="141819"/>
                </a:solidFill>
                <a:latin typeface="Arial"/>
                <a:ea typeface="Arial"/>
                <a:cs typeface="Arial"/>
              </a:rPr>
              <a:t>8 people; selected chat excerpts; no completed trial recorded</a:t>
            </a:r>
          </a:p>
        </p:txBody>
      </p:sp>
      <p:sp>
        <p:nvSpPr>
          <p:cNvPr id="6" name="">
            <a:extLst xmlns:a="http://schemas.openxmlformats.org/drawingml/2006/main">
              <a:ext uri="{FF2B5EF4-FFF2-40B4-BE49-F238E27FC236}">
                <a16:creationId xmlns:a16="http://schemas.microsoft.com/office/drawing/2014/main" id="{FE14F7AE-2356-4ED7-A12A-A23C8F1FDBCD}"/>
              </a:ext>
            </a:extLst>
          </p:cNvPr>
          <p:cNvSpPr>
            <a:spLocks xmlns:a="http://schemas.openxmlformats.org/drawingml/2006/main" noGrp="1"/>
          </p:cNvSpPr>
          <p:nvPr/>
        </p:nvSpPr>
        <p:spPr>
          <a:xfrm xmlns:a="http://schemas.openxmlformats.org/drawingml/2006/main">
            <a:off x="723900" y="3209925"/>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63B36"/>
                </a:solidFill>
                <a:latin typeface="Arial"/>
                <a:ea typeface="Arial"/>
                <a:cs typeface="Arial"/>
              </a:defRPr>
            </a:pPr>
            <a:r>
              <a:rPr sz="2250" b="1">
                <a:solidFill>
                  <a:srgbClr val="A63B36"/>
                </a:solidFill>
                <a:latin typeface="Arial"/>
                <a:ea typeface="Arial"/>
                <a:cs typeface="Arial"/>
              </a:rPr>
              <a:t>Organisation outreach</a:t>
            </a:r>
          </a:p>
        </p:txBody>
      </p:sp>
      <p:sp>
        <p:nvSpPr>
          <p:cNvPr id="7" name="">
            <a:extLst xmlns:a="http://schemas.openxmlformats.org/drawingml/2006/main">
              <a:ext uri="{FF2B5EF4-FFF2-40B4-BE49-F238E27FC236}">
                <a16:creationId xmlns:a16="http://schemas.microsoft.com/office/drawing/2014/main" id="{8D05374E-0C51-4515-92C7-F7E731FC3650}"/>
              </a:ext>
            </a:extLst>
          </p:cNvPr>
          <p:cNvSpPr>
            <a:spLocks xmlns:a="http://schemas.openxmlformats.org/drawingml/2006/main" noGrp="1"/>
          </p:cNvSpPr>
          <p:nvPr/>
        </p:nvSpPr>
        <p:spPr>
          <a:xfrm xmlns:a="http://schemas.openxmlformats.org/drawingml/2006/main">
            <a:off x="4048125" y="3209925"/>
            <a:ext cx="742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1819"/>
                </a:solidFill>
                <a:latin typeface="Arial"/>
                <a:ea typeface="Arial"/>
                <a:cs typeface="Arial"/>
              </a:defRPr>
            </a:pPr>
            <a:r>
              <a:rPr sz="2100" b="0">
                <a:solidFill>
                  <a:srgbClr val="141819"/>
                </a:solidFill>
                <a:latin typeface="Arial"/>
                <a:ea typeface="Arial"/>
                <a:cs typeface="Arial"/>
              </a:rPr>
              <a:t>10 invitations; no replies reported by 22 September 2026</a:t>
            </a:r>
          </a:p>
        </p:txBody>
      </p:sp>
      <p:sp>
        <p:nvSpPr>
          <p:cNvPr id="8" name="">
            <a:extLst xmlns:a="http://schemas.openxmlformats.org/drawingml/2006/main">
              <a:ext uri="{FF2B5EF4-FFF2-40B4-BE49-F238E27FC236}">
                <a16:creationId xmlns:a16="http://schemas.microsoft.com/office/drawing/2014/main" id="{60EECDDF-578F-4D88-8FD8-5184CFD465DA}"/>
              </a:ext>
            </a:extLst>
          </p:cNvPr>
          <p:cNvSpPr>
            <a:spLocks xmlns:a="http://schemas.openxmlformats.org/drawingml/2006/main" noGrp="1"/>
          </p:cNvSpPr>
          <p:nvPr/>
        </p:nvSpPr>
        <p:spPr>
          <a:xfrm xmlns:a="http://schemas.openxmlformats.org/drawingml/2006/main">
            <a:off x="723900" y="42957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63B36"/>
                </a:solidFill>
                <a:latin typeface="Arial"/>
                <a:ea typeface="Arial"/>
                <a:cs typeface="Arial"/>
              </a:defRPr>
            </a:pPr>
            <a:r>
              <a:rPr sz="2400" b="1">
                <a:solidFill>
                  <a:srgbClr val="A63B36"/>
                </a:solidFill>
                <a:latin typeface="Arial"/>
                <a:ea typeface="Arial"/>
                <a:cs typeface="Arial"/>
              </a:rPr>
              <a:t>Local checks</a:t>
            </a:r>
          </a:p>
        </p:txBody>
      </p:sp>
      <p:sp>
        <p:nvSpPr>
          <p:cNvPr id="9" name="">
            <a:extLst xmlns:a="http://schemas.openxmlformats.org/drawingml/2006/main">
              <a:ext uri="{FF2B5EF4-FFF2-40B4-BE49-F238E27FC236}">
                <a16:creationId xmlns:a16="http://schemas.microsoft.com/office/drawing/2014/main" id="{40C2CC0E-FBA2-457A-977D-0C379BD1821B}"/>
              </a:ext>
            </a:extLst>
          </p:cNvPr>
          <p:cNvSpPr>
            <a:spLocks xmlns:a="http://schemas.openxmlformats.org/drawingml/2006/main" noGrp="1"/>
          </p:cNvSpPr>
          <p:nvPr/>
        </p:nvSpPr>
        <p:spPr>
          <a:xfrm xmlns:a="http://schemas.openxmlformats.org/drawingml/2006/main">
            <a:off x="4048125" y="4295775"/>
            <a:ext cx="742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1819"/>
                </a:solidFill>
                <a:latin typeface="Arial"/>
                <a:ea typeface="Arial"/>
                <a:cs typeface="Arial"/>
              </a:defRPr>
            </a:pPr>
            <a:r>
              <a:rPr sz="2100" b="0">
                <a:solidFill>
                  <a:srgbClr val="141819"/>
                </a:solidFill>
                <a:latin typeface="Arial"/>
                <a:ea typeface="Arial"/>
                <a:cs typeface="Arial"/>
              </a:rPr>
              <a:t>12 experiments + 15 checks; product behaviour in controlled scenarios</a:t>
            </a:r>
          </a:p>
        </p:txBody>
      </p:sp>
      <p:sp>
        <p:nvSpPr>
          <p:cNvPr id="10" name="">
            <a:extLst xmlns:a="http://schemas.openxmlformats.org/drawingml/2006/main">
              <a:ext uri="{FF2B5EF4-FFF2-40B4-BE49-F238E27FC236}">
                <a16:creationId xmlns:a16="http://schemas.microsoft.com/office/drawing/2014/main" id="{1AF3DB36-AE95-4B0B-B770-19EB3A4C19A1}"/>
              </a:ext>
            </a:extLst>
          </p:cNvPr>
          <p:cNvSpPr>
            <a:spLocks xmlns:a="http://schemas.openxmlformats.org/drawingml/2006/main" noGrp="1"/>
          </p:cNvSpPr>
          <p:nvPr/>
        </p:nvSpPr>
        <p:spPr>
          <a:xfrm xmlns:a="http://schemas.openxmlformats.org/drawingml/2006/main">
            <a:off x="723900" y="53816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63B36"/>
                </a:solidFill>
                <a:latin typeface="Arial"/>
                <a:ea typeface="Arial"/>
                <a:cs typeface="Arial"/>
              </a:defRPr>
            </a:pPr>
            <a:r>
              <a:rPr sz="2400" b="1">
                <a:solidFill>
                  <a:srgbClr val="A63B36"/>
                </a:solidFill>
                <a:latin typeface="Arial"/>
                <a:ea typeface="Arial"/>
                <a:cs typeface="Arial"/>
              </a:rPr>
              <a:t>Stop decision</a:t>
            </a:r>
          </a:p>
        </p:txBody>
      </p:sp>
      <p:sp>
        <p:nvSpPr>
          <p:cNvPr id="11" name="">
            <a:extLst xmlns:a="http://schemas.openxmlformats.org/drawingml/2006/main">
              <a:ext uri="{FF2B5EF4-FFF2-40B4-BE49-F238E27FC236}">
                <a16:creationId xmlns:a16="http://schemas.microsoft.com/office/drawing/2014/main" id="{987F7182-098F-4BF7-875B-6A7F5F3DB46A}"/>
              </a:ext>
            </a:extLst>
          </p:cNvPr>
          <p:cNvSpPr>
            <a:spLocks xmlns:a="http://schemas.openxmlformats.org/drawingml/2006/main" noGrp="1"/>
          </p:cNvSpPr>
          <p:nvPr/>
        </p:nvSpPr>
        <p:spPr>
          <a:xfrm xmlns:a="http://schemas.openxmlformats.org/drawingml/2006/main">
            <a:off x="4048125" y="5381625"/>
            <a:ext cx="742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1819"/>
                </a:solidFill>
                <a:latin typeface="Arial"/>
                <a:ea typeface="Arial"/>
                <a:cs typeface="Arial"/>
              </a:defRPr>
            </a:pPr>
            <a:r>
              <a:rPr sz="2100" b="0">
                <a:solidFill>
                  <a:srgbClr val="141819"/>
                </a:solidFill>
                <a:latin typeface="Arial"/>
                <a:ea typeface="Arial"/>
                <a:cs typeface="Arial"/>
              </a:rPr>
              <a:t>Team time and future resources; no promised reopening</a:t>
            </a:r>
          </a:p>
        </p:txBody>
      </p:sp>
    </p:spTree>
    <p:extLst>
      <p:ext uri="{BB962C8B-B14F-4D97-AF65-F5344CB8AC3E}">
        <p14:creationId xmlns:p14="http://schemas.microsoft.com/office/powerpoint/2010/main" val="2139973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2026-09-22T14:08:07.0880000Z</dcterms:created>
  <dcterms:modified xsi:type="dcterms:W3CDTF">2026-09-22T14:08:07.0880000Z</dcterms:modified>
</coreProperties>
</file>